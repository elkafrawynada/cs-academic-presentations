
<file path=[Content_Types].xml><?xml version="1.0" encoding="utf-8"?>
<Types xmlns="http://schemas.openxmlformats.org/package/2006/content-types">
  <Default ContentType="application/x-fontdata" Extension="fntdata"/>
  <Default ContentType="image/gif" Extension="gif"/>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Bryndan Write" charset="1" panose="02000503000000000000"/>
      <p:regular r:id="rId17"/>
    </p:embeddedFont>
    <p:embeddedFont>
      <p:font typeface="Public Sans" charset="1" panose="00000000000000000000"/>
      <p:regular r:id="rId18"/>
    </p:embeddedFont>
    <p:embeddedFont>
      <p:font typeface="Public Sans Bold" charset="1" panose="00000000000000000000"/>
      <p:regular r:id="rId19"/>
    </p:embeddedFont>
    <p:embeddedFont>
      <p:font typeface="Calistoga" charset="1" panose="000005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gif"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1.gif"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svg" Type="http://schemas.openxmlformats.org/officeDocument/2006/relationships/image"/><Relationship Id="rId11" Target="../media/image19.png" Type="http://schemas.openxmlformats.org/officeDocument/2006/relationships/image"/><Relationship Id="rId12" Target="../media/image20.svg" Type="http://schemas.openxmlformats.org/officeDocument/2006/relationships/image"/><Relationship Id="rId2" Target="../media/image1.jpeg" Type="http://schemas.openxmlformats.org/officeDocument/2006/relationships/image"/><Relationship Id="rId3" Target="../media/image11.gif"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15.png" Type="http://schemas.openxmlformats.org/officeDocument/2006/relationships/image"/><Relationship Id="rId8" Target="../media/image16.svg" Type="http://schemas.openxmlformats.org/officeDocument/2006/relationships/image"/><Relationship Id="rId9" Target="../media/image1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1.gif"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7.png" Type="http://schemas.openxmlformats.org/officeDocument/2006/relationships/image"/><Relationship Id="rId4" Target="../media/image2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1.gif"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2.png" Type="http://schemas.openxmlformats.org/officeDocument/2006/relationships/image"/><Relationship Id="rId12" Target="../media/image3.svg" Type="http://schemas.openxmlformats.org/officeDocument/2006/relationships/image"/><Relationship Id="rId13" Target="../media/image36.png" Type="http://schemas.openxmlformats.org/officeDocument/2006/relationships/image"/><Relationship Id="rId14" Target="../media/image37.svg" Type="http://schemas.openxmlformats.org/officeDocument/2006/relationships/image"/><Relationship Id="rId15" Target="../media/image6.png" Type="http://schemas.openxmlformats.org/officeDocument/2006/relationships/image"/><Relationship Id="rId16" Target="../media/image7.svg" Type="http://schemas.openxmlformats.org/officeDocument/2006/relationships/image"/><Relationship Id="rId17" Target="../media/image38.png" Type="http://schemas.openxmlformats.org/officeDocument/2006/relationships/image"/><Relationship Id="rId18" Target="../media/image39.svg" Type="http://schemas.openxmlformats.org/officeDocument/2006/relationships/image"/><Relationship Id="rId2" Target="../media/image1.jpe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30.png" Type="http://schemas.openxmlformats.org/officeDocument/2006/relationships/image"/><Relationship Id="rId6" Target="../media/image31.svg" Type="http://schemas.openxmlformats.org/officeDocument/2006/relationships/image"/><Relationship Id="rId7" Target="../media/image32.png" Type="http://schemas.openxmlformats.org/officeDocument/2006/relationships/image"/><Relationship Id="rId8" Target="../media/image33.svg" Type="http://schemas.openxmlformats.org/officeDocument/2006/relationships/image"/><Relationship Id="rId9" Target="../media/image3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149" r="0" b="-4961"/>
            </a:stretch>
          </a:blipFill>
        </p:spPr>
      </p:sp>
      <p:sp>
        <p:nvSpPr>
          <p:cNvPr name="Freeform 3" id="3"/>
          <p:cNvSpPr/>
          <p:nvPr/>
        </p:nvSpPr>
        <p:spPr>
          <a:xfrm flipH="false" flipV="false" rot="0">
            <a:off x="5444965" y="3360283"/>
            <a:ext cx="3273740" cy="4158330"/>
          </a:xfrm>
          <a:custGeom>
            <a:avLst/>
            <a:gdLst/>
            <a:ahLst/>
            <a:cxnLst/>
            <a:rect r="r" b="b" t="t" l="l"/>
            <a:pathLst>
              <a:path h="4158330" w="3273740">
                <a:moveTo>
                  <a:pt x="0" y="0"/>
                </a:moveTo>
                <a:lnTo>
                  <a:pt x="3273739" y="0"/>
                </a:lnTo>
                <a:lnTo>
                  <a:pt x="3273739" y="4158329"/>
                </a:lnTo>
                <a:lnTo>
                  <a:pt x="0" y="41583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757850" y="3360283"/>
            <a:ext cx="3113198" cy="3954409"/>
          </a:xfrm>
          <a:custGeom>
            <a:avLst/>
            <a:gdLst/>
            <a:ahLst/>
            <a:cxnLst/>
            <a:rect r="r" b="b" t="t" l="l"/>
            <a:pathLst>
              <a:path h="3954409" w="3113198">
                <a:moveTo>
                  <a:pt x="0" y="0"/>
                </a:moveTo>
                <a:lnTo>
                  <a:pt x="3113198" y="0"/>
                </a:lnTo>
                <a:lnTo>
                  <a:pt x="3113198" y="3954409"/>
                </a:lnTo>
                <a:lnTo>
                  <a:pt x="0" y="39544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3463404" y="3585370"/>
            <a:ext cx="2158766" cy="3842463"/>
          </a:xfrm>
          <a:custGeom>
            <a:avLst/>
            <a:gdLst/>
            <a:ahLst/>
            <a:cxnLst/>
            <a:rect r="r" b="b" t="t" l="l"/>
            <a:pathLst>
              <a:path h="3842463" w="2158766">
                <a:moveTo>
                  <a:pt x="0" y="0"/>
                </a:moveTo>
                <a:lnTo>
                  <a:pt x="2158766" y="0"/>
                </a:lnTo>
                <a:lnTo>
                  <a:pt x="2158766" y="3842463"/>
                </a:lnTo>
                <a:lnTo>
                  <a:pt x="0" y="384246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2051057" y="4176592"/>
            <a:ext cx="3178613" cy="2768283"/>
          </a:xfrm>
          <a:custGeom>
            <a:avLst/>
            <a:gdLst/>
            <a:ahLst/>
            <a:cxnLst/>
            <a:rect r="r" b="b" t="t" l="l"/>
            <a:pathLst>
              <a:path h="2768283" w="3178613">
                <a:moveTo>
                  <a:pt x="0" y="0"/>
                </a:moveTo>
                <a:lnTo>
                  <a:pt x="3178613" y="0"/>
                </a:lnTo>
                <a:lnTo>
                  <a:pt x="3178613" y="2768283"/>
                </a:lnTo>
                <a:lnTo>
                  <a:pt x="0" y="276828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1725427" y="1209100"/>
            <a:ext cx="13986555" cy="1169192"/>
          </a:xfrm>
          <a:prstGeom prst="rect">
            <a:avLst/>
          </a:prstGeom>
        </p:spPr>
        <p:txBody>
          <a:bodyPr anchor="t" rtlCol="false" tIns="0" lIns="0" bIns="0" rIns="0">
            <a:spAutoFit/>
          </a:bodyPr>
          <a:lstStyle/>
          <a:p>
            <a:pPr algn="ctr">
              <a:lnSpc>
                <a:spcPts val="9056"/>
              </a:lnSpc>
              <a:spcBef>
                <a:spcPct val="0"/>
              </a:spcBef>
            </a:pPr>
            <a:r>
              <a:rPr lang="en-US" sz="6468">
                <a:solidFill>
                  <a:srgbClr val="000000"/>
                </a:solidFill>
                <a:latin typeface="Bryndan Write"/>
                <a:ea typeface="Bryndan Write"/>
                <a:cs typeface="Bryndan Write"/>
                <a:sym typeface="Bryndan Write"/>
              </a:rPr>
              <a:t>PRESENTATION ABOUT </a:t>
            </a:r>
          </a:p>
        </p:txBody>
      </p:sp>
      <p:sp>
        <p:nvSpPr>
          <p:cNvPr name="Freeform 8" id="8"/>
          <p:cNvSpPr/>
          <p:nvPr/>
        </p:nvSpPr>
        <p:spPr>
          <a:xfrm flipH="false" flipV="false" rot="0">
            <a:off x="54453" y="3075666"/>
            <a:ext cx="3408951" cy="4442946"/>
          </a:xfrm>
          <a:custGeom>
            <a:avLst/>
            <a:gdLst/>
            <a:ahLst/>
            <a:cxnLst/>
            <a:rect r="r" b="b" t="t" l="l"/>
            <a:pathLst>
              <a:path h="4442946" w="3408951">
                <a:moveTo>
                  <a:pt x="0" y="0"/>
                </a:moveTo>
                <a:lnTo>
                  <a:pt x="3408951" y="0"/>
                </a:lnTo>
                <a:lnTo>
                  <a:pt x="3408951" y="4442946"/>
                </a:lnTo>
                <a:lnTo>
                  <a:pt x="0" y="444294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9" id="9"/>
          <p:cNvSpPr txBox="true"/>
          <p:nvPr/>
        </p:nvSpPr>
        <p:spPr>
          <a:xfrm rot="0">
            <a:off x="10309308" y="9134475"/>
            <a:ext cx="8358206" cy="711437"/>
          </a:xfrm>
          <a:prstGeom prst="rect">
            <a:avLst/>
          </a:prstGeom>
        </p:spPr>
        <p:txBody>
          <a:bodyPr anchor="t" rtlCol="false" tIns="0" lIns="0" bIns="0" rIns="0">
            <a:spAutoFit/>
          </a:bodyPr>
          <a:lstStyle/>
          <a:p>
            <a:pPr algn="ctr">
              <a:lnSpc>
                <a:spcPts val="5411"/>
              </a:lnSpc>
              <a:spcBef>
                <a:spcPct val="0"/>
              </a:spcBef>
            </a:pPr>
            <a:r>
              <a:rPr lang="en-US" sz="3865">
                <a:solidFill>
                  <a:srgbClr val="000000"/>
                </a:solidFill>
                <a:latin typeface="Bryndan Write"/>
                <a:ea typeface="Bryndan Write"/>
                <a:cs typeface="Bryndan Write"/>
                <a:sym typeface="Bryndan Write"/>
              </a:rPr>
              <a:t>MADE BY : NADA ELKAFRAWY</a:t>
            </a:r>
          </a:p>
        </p:txBody>
      </p:sp>
      <p:sp>
        <p:nvSpPr>
          <p:cNvPr name="Freeform 10" id="10"/>
          <p:cNvSpPr/>
          <p:nvPr/>
        </p:nvSpPr>
        <p:spPr>
          <a:xfrm flipH="false" flipV="false" rot="0">
            <a:off x="9144000" y="3148960"/>
            <a:ext cx="3283063" cy="4278873"/>
          </a:xfrm>
          <a:custGeom>
            <a:avLst/>
            <a:gdLst/>
            <a:ahLst/>
            <a:cxnLst/>
            <a:rect r="r" b="b" t="t" l="l"/>
            <a:pathLst>
              <a:path h="4278873" w="3283063">
                <a:moveTo>
                  <a:pt x="0" y="0"/>
                </a:moveTo>
                <a:lnTo>
                  <a:pt x="3283063" y="0"/>
                </a:lnTo>
                <a:lnTo>
                  <a:pt x="3283063" y="4278873"/>
                </a:lnTo>
                <a:lnTo>
                  <a:pt x="0" y="427887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149" r="0" b="-4961"/>
            </a:stretch>
          </a:blipFill>
        </p:spPr>
      </p:sp>
      <p:pic>
        <p:nvPicPr>
          <p:cNvPr name="Picture 3" id="3"/>
          <p:cNvPicPr>
            <a:picLocks noChangeAspect="true"/>
          </p:cNvPicPr>
          <p:nvPr/>
        </p:nvPicPr>
        <p:blipFill>
          <a:blip r:embed="rId3">
            <a:alphaModFix amt="31000"/>
          </a:blip>
          <a:srcRect l="0" t="0" r="0" b="0"/>
          <a:stretch>
            <a:fillRect/>
          </a:stretch>
        </p:blipFill>
        <p:spPr>
          <a:xfrm flipH="false" flipV="false" rot="0">
            <a:off x="3041218" y="1803896"/>
            <a:ext cx="12205565" cy="1037473"/>
          </a:xfrm>
          <a:prstGeom prst="rect">
            <a:avLst/>
          </a:prstGeom>
        </p:spPr>
      </p:pic>
      <p:sp>
        <p:nvSpPr>
          <p:cNvPr name="TextBox 4" id="4"/>
          <p:cNvSpPr txBox="true"/>
          <p:nvPr/>
        </p:nvSpPr>
        <p:spPr>
          <a:xfrm rot="0">
            <a:off x="4742344" y="1724389"/>
            <a:ext cx="8803313" cy="1063136"/>
          </a:xfrm>
          <a:prstGeom prst="rect">
            <a:avLst/>
          </a:prstGeom>
        </p:spPr>
        <p:txBody>
          <a:bodyPr anchor="t" rtlCol="false" tIns="0" lIns="0" bIns="0" rIns="0">
            <a:spAutoFit/>
          </a:bodyPr>
          <a:lstStyle/>
          <a:p>
            <a:pPr algn="ctr">
              <a:lnSpc>
                <a:spcPts val="8601"/>
              </a:lnSpc>
              <a:spcBef>
                <a:spcPct val="0"/>
              </a:spcBef>
            </a:pPr>
            <a:r>
              <a:rPr lang="en-US" sz="6144">
                <a:solidFill>
                  <a:srgbClr val="000000"/>
                </a:solidFill>
                <a:latin typeface="Public Sans"/>
                <a:ea typeface="Public Sans"/>
                <a:cs typeface="Public Sans"/>
                <a:sym typeface="Public Sans"/>
              </a:rPr>
              <a:t>INTRODUCTION</a:t>
            </a:r>
          </a:p>
        </p:txBody>
      </p:sp>
      <p:sp>
        <p:nvSpPr>
          <p:cNvPr name="TextBox 5" id="5"/>
          <p:cNvSpPr txBox="true"/>
          <p:nvPr/>
        </p:nvSpPr>
        <p:spPr>
          <a:xfrm rot="0">
            <a:off x="2173415" y="3297518"/>
            <a:ext cx="14079626" cy="4526364"/>
          </a:xfrm>
          <a:prstGeom prst="rect">
            <a:avLst/>
          </a:prstGeom>
        </p:spPr>
        <p:txBody>
          <a:bodyPr anchor="t" rtlCol="false" tIns="0" lIns="0" bIns="0" rIns="0">
            <a:spAutoFit/>
          </a:bodyPr>
          <a:lstStyle/>
          <a:p>
            <a:pPr algn="ctr">
              <a:lnSpc>
                <a:spcPts val="5140"/>
              </a:lnSpc>
              <a:spcBef>
                <a:spcPct val="0"/>
              </a:spcBef>
            </a:pPr>
            <a:r>
              <a:rPr lang="en-US" b="true" sz="3671">
                <a:solidFill>
                  <a:srgbClr val="000000"/>
                </a:solidFill>
                <a:latin typeface="Public Sans Bold"/>
                <a:ea typeface="Public Sans Bold"/>
                <a:cs typeface="Public Sans Bold"/>
                <a:sym typeface="Public Sans Bold"/>
              </a:rPr>
              <a:t>TikTok is a short-form video platform that has rapidly become one of the most popular social media apps worldwide. Launched by the Chinese company ByteDance in 2016, TikTok allows users to create, edit, and share short videos, typically ranging from 15 seconds to 3 minutes. The app gained global popularity after merging with Musical.ly in 2018, expanding its user base significantly</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149" r="0" b="-4961"/>
            </a:stretch>
          </a:blipFill>
        </p:spPr>
      </p:sp>
      <p:sp>
        <p:nvSpPr>
          <p:cNvPr name="TextBox 3" id="3"/>
          <p:cNvSpPr txBox="true"/>
          <p:nvPr/>
        </p:nvSpPr>
        <p:spPr>
          <a:xfrm rot="0">
            <a:off x="2501600" y="3693955"/>
            <a:ext cx="13284800" cy="4715778"/>
          </a:xfrm>
          <a:prstGeom prst="rect">
            <a:avLst/>
          </a:prstGeom>
        </p:spPr>
        <p:txBody>
          <a:bodyPr anchor="t" rtlCol="false" tIns="0" lIns="0" bIns="0" rIns="0">
            <a:spAutoFit/>
          </a:bodyPr>
          <a:lstStyle/>
          <a:p>
            <a:pPr algn="ctr">
              <a:lnSpc>
                <a:spcPts val="4675"/>
              </a:lnSpc>
            </a:pPr>
            <a:r>
              <a:rPr lang="en-US" sz="3339" b="true">
                <a:solidFill>
                  <a:srgbClr val="000000"/>
                </a:solidFill>
                <a:latin typeface="Public Sans Bold"/>
                <a:ea typeface="Public Sans Bold"/>
                <a:cs typeface="Public Sans Bold"/>
                <a:sym typeface="Public Sans Bold"/>
              </a:rPr>
              <a:t> Before analyzing TikTok's user experience, it’s important to understand what User Experience (UX) means.</a:t>
            </a:r>
          </a:p>
          <a:p>
            <a:pPr algn="ctr">
              <a:lnSpc>
                <a:spcPts val="4675"/>
              </a:lnSpc>
            </a:pPr>
            <a:r>
              <a:rPr lang="en-US" sz="3339" b="true">
                <a:solidFill>
                  <a:srgbClr val="000000"/>
                </a:solidFill>
                <a:latin typeface="Public Sans Bold"/>
                <a:ea typeface="Public Sans Bold"/>
                <a:cs typeface="Public Sans Bold"/>
                <a:sym typeface="Public Sans Bold"/>
              </a:rPr>
              <a:t>User Experience (UX) refers to how a person feels when interacting with a product, system, or service. It encompasses usability, accessibility, efficiency, and overall satisfaction while using an application or website. A good UX ensures that users can navigate and enjoy the platform with ease.</a:t>
            </a:r>
          </a:p>
          <a:p>
            <a:pPr algn="ctr">
              <a:lnSpc>
                <a:spcPts val="4675"/>
              </a:lnSpc>
              <a:spcBef>
                <a:spcPct val="0"/>
              </a:spcBef>
            </a:pPr>
          </a:p>
        </p:txBody>
      </p:sp>
      <p:pic>
        <p:nvPicPr>
          <p:cNvPr name="Picture 4" id="4"/>
          <p:cNvPicPr>
            <a:picLocks noChangeAspect="true"/>
          </p:cNvPicPr>
          <p:nvPr/>
        </p:nvPicPr>
        <p:blipFill>
          <a:blip r:embed="rId3">
            <a:alphaModFix amt="38000"/>
          </a:blip>
          <a:srcRect l="0" t="0" r="0" b="0"/>
          <a:stretch>
            <a:fillRect/>
          </a:stretch>
        </p:blipFill>
        <p:spPr>
          <a:xfrm flipH="false" flipV="false" rot="0">
            <a:off x="2159662" y="1832128"/>
            <a:ext cx="14559432" cy="1237552"/>
          </a:xfrm>
          <a:prstGeom prst="rect">
            <a:avLst/>
          </a:prstGeom>
        </p:spPr>
      </p:pic>
      <p:sp>
        <p:nvSpPr>
          <p:cNvPr name="TextBox 5" id="5"/>
          <p:cNvSpPr txBox="true"/>
          <p:nvPr/>
        </p:nvSpPr>
        <p:spPr>
          <a:xfrm rot="0">
            <a:off x="3994101" y="2131805"/>
            <a:ext cx="11455198" cy="937874"/>
          </a:xfrm>
          <a:prstGeom prst="rect">
            <a:avLst/>
          </a:prstGeom>
        </p:spPr>
        <p:txBody>
          <a:bodyPr anchor="t" rtlCol="false" tIns="0" lIns="0" bIns="0" rIns="0">
            <a:spAutoFit/>
          </a:bodyPr>
          <a:lstStyle/>
          <a:p>
            <a:pPr algn="l">
              <a:lnSpc>
                <a:spcPts val="7631"/>
              </a:lnSpc>
              <a:spcBef>
                <a:spcPct val="0"/>
              </a:spcBef>
            </a:pPr>
            <a:r>
              <a:rPr lang="en-US" b="true" sz="5450">
                <a:solidFill>
                  <a:srgbClr val="000000"/>
                </a:solidFill>
                <a:latin typeface="Public Sans Bold"/>
                <a:ea typeface="Public Sans Bold"/>
                <a:cs typeface="Public Sans Bold"/>
                <a:sym typeface="Public Sans Bold"/>
              </a:rPr>
              <a:t>ANALYZING USER EXPERIENCE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149" r="0" b="-4961"/>
            </a:stretch>
          </a:blipFill>
        </p:spPr>
      </p:sp>
      <p:pic>
        <p:nvPicPr>
          <p:cNvPr name="Picture 3" id="3"/>
          <p:cNvPicPr>
            <a:picLocks noChangeAspect="true"/>
          </p:cNvPicPr>
          <p:nvPr/>
        </p:nvPicPr>
        <p:blipFill>
          <a:blip r:embed="rId3">
            <a:alphaModFix amt="38000"/>
          </a:blip>
          <a:srcRect l="0" t="0" r="0" b="0"/>
          <a:stretch>
            <a:fillRect/>
          </a:stretch>
        </p:blipFill>
        <p:spPr>
          <a:xfrm flipH="false" flipV="false" rot="0">
            <a:off x="562807" y="1820233"/>
            <a:ext cx="11571331" cy="983563"/>
          </a:xfrm>
          <a:prstGeom prst="rect">
            <a:avLst/>
          </a:prstGeom>
        </p:spPr>
      </p:pic>
      <p:sp>
        <p:nvSpPr>
          <p:cNvPr name="Freeform 4" id="4"/>
          <p:cNvSpPr/>
          <p:nvPr/>
        </p:nvSpPr>
        <p:spPr>
          <a:xfrm flipH="false" flipV="false" rot="191929">
            <a:off x="12714831" y="2440350"/>
            <a:ext cx="4811321" cy="7576884"/>
          </a:xfrm>
          <a:custGeom>
            <a:avLst/>
            <a:gdLst/>
            <a:ahLst/>
            <a:cxnLst/>
            <a:rect r="r" b="b" t="t" l="l"/>
            <a:pathLst>
              <a:path h="7576884" w="4811321">
                <a:moveTo>
                  <a:pt x="0" y="0"/>
                </a:moveTo>
                <a:lnTo>
                  <a:pt x="4811322" y="0"/>
                </a:lnTo>
                <a:lnTo>
                  <a:pt x="4811322" y="7576885"/>
                </a:lnTo>
                <a:lnTo>
                  <a:pt x="0" y="7576885"/>
                </a:lnTo>
                <a:lnTo>
                  <a:pt x="0" y="0"/>
                </a:lnTo>
                <a:close/>
              </a:path>
            </a:pathLst>
          </a:custGeom>
          <a:blipFill>
            <a:blip r:embed="rId4"/>
            <a:stretch>
              <a:fillRect l="0" t="0" r="0" b="0"/>
            </a:stretch>
          </a:blipFill>
        </p:spPr>
      </p:sp>
      <p:sp>
        <p:nvSpPr>
          <p:cNvPr name="Freeform 5" id="5"/>
          <p:cNvSpPr/>
          <p:nvPr/>
        </p:nvSpPr>
        <p:spPr>
          <a:xfrm flipH="false" flipV="false" rot="-1201574">
            <a:off x="13108788" y="4569027"/>
            <a:ext cx="4207163" cy="3205093"/>
          </a:xfrm>
          <a:custGeom>
            <a:avLst/>
            <a:gdLst/>
            <a:ahLst/>
            <a:cxnLst/>
            <a:rect r="r" b="b" t="t" l="l"/>
            <a:pathLst>
              <a:path h="3205093" w="4207163">
                <a:moveTo>
                  <a:pt x="0" y="0"/>
                </a:moveTo>
                <a:lnTo>
                  <a:pt x="4207163" y="0"/>
                </a:lnTo>
                <a:lnTo>
                  <a:pt x="4207163" y="3205093"/>
                </a:lnTo>
                <a:lnTo>
                  <a:pt x="0" y="320509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1741393" y="1879575"/>
            <a:ext cx="10677660" cy="1580133"/>
          </a:xfrm>
          <a:prstGeom prst="rect">
            <a:avLst/>
          </a:prstGeom>
        </p:spPr>
        <p:txBody>
          <a:bodyPr anchor="t" rtlCol="false" tIns="0" lIns="0" bIns="0" rIns="0">
            <a:spAutoFit/>
          </a:bodyPr>
          <a:lstStyle/>
          <a:p>
            <a:pPr algn="l">
              <a:lnSpc>
                <a:spcPts val="6076"/>
              </a:lnSpc>
            </a:pPr>
            <a:r>
              <a:rPr lang="en-US" sz="4340" b="true">
                <a:solidFill>
                  <a:srgbClr val="000000"/>
                </a:solidFill>
                <a:latin typeface="Public Sans Bold"/>
                <a:ea typeface="Public Sans Bold"/>
                <a:cs typeface="Public Sans Bold"/>
                <a:sym typeface="Public Sans Bold"/>
              </a:rPr>
              <a:t> HOW GOOD UX SHAPES USAGE</a:t>
            </a:r>
          </a:p>
          <a:p>
            <a:pPr algn="l">
              <a:lnSpc>
                <a:spcPts val="6636"/>
              </a:lnSpc>
              <a:spcBef>
                <a:spcPct val="0"/>
              </a:spcBef>
            </a:pPr>
          </a:p>
        </p:txBody>
      </p:sp>
      <p:sp>
        <p:nvSpPr>
          <p:cNvPr name="TextBox 7" id="7"/>
          <p:cNvSpPr txBox="true"/>
          <p:nvPr/>
        </p:nvSpPr>
        <p:spPr>
          <a:xfrm rot="0">
            <a:off x="630140" y="3076906"/>
            <a:ext cx="11436665" cy="6287837"/>
          </a:xfrm>
          <a:prstGeom prst="rect">
            <a:avLst/>
          </a:prstGeom>
        </p:spPr>
        <p:txBody>
          <a:bodyPr anchor="t" rtlCol="false" tIns="0" lIns="0" bIns="0" rIns="0">
            <a:spAutoFit/>
          </a:bodyPr>
          <a:lstStyle/>
          <a:p>
            <a:pPr algn="l">
              <a:lnSpc>
                <a:spcPts val="4126"/>
              </a:lnSpc>
            </a:pPr>
          </a:p>
          <a:p>
            <a:pPr algn="l">
              <a:lnSpc>
                <a:spcPts val="4126"/>
              </a:lnSpc>
            </a:pPr>
            <a:r>
              <a:rPr lang="en-US" sz="2947" b="true">
                <a:solidFill>
                  <a:srgbClr val="000000"/>
                </a:solidFill>
                <a:latin typeface="Public Sans Bold"/>
                <a:ea typeface="Public Sans Bold"/>
                <a:cs typeface="Public Sans Bold"/>
                <a:sym typeface="Public Sans Bold"/>
              </a:rPr>
              <a:t>Good user experience (UX) is crucial in determining how users interact with social media platforms. A well-designed interface enhances usability, making it easier for users to navigate, engage, and create content. Positive UX leads to increased user satisfaction, higher retention rates, and more frequent usage. Features like personalized feeds, intuitive navigation, and engaging tools foster a sense of community and encourage users to return. Ultimately, investing in good UX not only attracts new users but also builds loyalty, ensuring long-term growth and success for social media platforms.</a:t>
            </a:r>
          </a:p>
          <a:p>
            <a:pPr algn="l">
              <a:lnSpc>
                <a:spcPts val="4126"/>
              </a:lnSpc>
              <a:spcBef>
                <a:spcPct val="0"/>
              </a:spcBef>
            </a:pPr>
          </a:p>
        </p:txBody>
      </p:sp>
      <p:sp>
        <p:nvSpPr>
          <p:cNvPr name="Freeform 8" id="8"/>
          <p:cNvSpPr/>
          <p:nvPr/>
        </p:nvSpPr>
        <p:spPr>
          <a:xfrm flipH="false" flipV="false" rot="-1241304">
            <a:off x="13482482" y="4988398"/>
            <a:ext cx="3459775" cy="2654591"/>
          </a:xfrm>
          <a:custGeom>
            <a:avLst/>
            <a:gdLst/>
            <a:ahLst/>
            <a:cxnLst/>
            <a:rect r="r" b="b" t="t" l="l"/>
            <a:pathLst>
              <a:path h="2654591" w="3459775">
                <a:moveTo>
                  <a:pt x="0" y="0"/>
                </a:moveTo>
                <a:lnTo>
                  <a:pt x="3459775" y="0"/>
                </a:lnTo>
                <a:lnTo>
                  <a:pt x="3459775" y="2654591"/>
                </a:lnTo>
                <a:lnTo>
                  <a:pt x="0" y="26545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4487431" y="9033088"/>
            <a:ext cx="2447958" cy="716584"/>
          </a:xfrm>
          <a:custGeom>
            <a:avLst/>
            <a:gdLst/>
            <a:ahLst/>
            <a:cxnLst/>
            <a:rect r="r" b="b" t="t" l="l"/>
            <a:pathLst>
              <a:path h="716584" w="2447958">
                <a:moveTo>
                  <a:pt x="0" y="0"/>
                </a:moveTo>
                <a:lnTo>
                  <a:pt x="2447958" y="0"/>
                </a:lnTo>
                <a:lnTo>
                  <a:pt x="2447958" y="716584"/>
                </a:lnTo>
                <a:lnTo>
                  <a:pt x="0" y="71658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1168206">
            <a:off x="12918094" y="288127"/>
            <a:ext cx="2097992" cy="3354347"/>
          </a:xfrm>
          <a:custGeom>
            <a:avLst/>
            <a:gdLst/>
            <a:ahLst/>
            <a:cxnLst/>
            <a:rect r="r" b="b" t="t" l="l"/>
            <a:pathLst>
              <a:path h="3354347" w="2097992">
                <a:moveTo>
                  <a:pt x="0" y="0"/>
                </a:moveTo>
                <a:lnTo>
                  <a:pt x="2097991" y="0"/>
                </a:lnTo>
                <a:lnTo>
                  <a:pt x="2097991" y="3354347"/>
                </a:lnTo>
                <a:lnTo>
                  <a:pt x="0" y="335434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149" r="0" b="-4961"/>
            </a:stretch>
          </a:blipFill>
        </p:spPr>
      </p:sp>
      <p:sp>
        <p:nvSpPr>
          <p:cNvPr name="Freeform 3" id="3"/>
          <p:cNvSpPr/>
          <p:nvPr/>
        </p:nvSpPr>
        <p:spPr>
          <a:xfrm flipH="false" flipV="false" rot="360127">
            <a:off x="5856883" y="1841793"/>
            <a:ext cx="2947693" cy="4114800"/>
          </a:xfrm>
          <a:custGeom>
            <a:avLst/>
            <a:gdLst/>
            <a:ahLst/>
            <a:cxnLst/>
            <a:rect r="r" b="b" t="t" l="l"/>
            <a:pathLst>
              <a:path h="4114800" w="2947693">
                <a:moveTo>
                  <a:pt x="0" y="0"/>
                </a:moveTo>
                <a:lnTo>
                  <a:pt x="2947693" y="0"/>
                </a:lnTo>
                <a:lnTo>
                  <a:pt x="2947693"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9011629" y="3572430"/>
            <a:ext cx="6286371" cy="2365864"/>
          </a:xfrm>
          <a:prstGeom prst="rect">
            <a:avLst/>
          </a:prstGeom>
        </p:spPr>
        <p:txBody>
          <a:bodyPr anchor="t" rtlCol="false" tIns="0" lIns="0" bIns="0" rIns="0">
            <a:spAutoFit/>
          </a:bodyPr>
          <a:lstStyle/>
          <a:p>
            <a:pPr algn="l">
              <a:lnSpc>
                <a:spcPts val="6144"/>
              </a:lnSpc>
            </a:pPr>
            <a:r>
              <a:rPr lang="en-US" sz="6144" b="true">
                <a:solidFill>
                  <a:srgbClr val="000000"/>
                </a:solidFill>
                <a:latin typeface="Public Sans Bold"/>
                <a:ea typeface="Public Sans Bold"/>
                <a:cs typeface="Public Sans Bold"/>
                <a:sym typeface="Public Sans Bold"/>
              </a:rPr>
              <a:t>GOOD USER EXPERIENCE IN TIKTOK</a:t>
            </a:r>
          </a:p>
        </p:txBody>
      </p:sp>
      <p:sp>
        <p:nvSpPr>
          <p:cNvPr name="TextBox 5" id="5"/>
          <p:cNvSpPr txBox="true"/>
          <p:nvPr/>
        </p:nvSpPr>
        <p:spPr>
          <a:xfrm rot="0">
            <a:off x="2653690" y="7184026"/>
            <a:ext cx="14015668" cy="2086417"/>
          </a:xfrm>
          <a:prstGeom prst="rect">
            <a:avLst/>
          </a:prstGeom>
        </p:spPr>
        <p:txBody>
          <a:bodyPr anchor="t" rtlCol="false" tIns="0" lIns="0" bIns="0" rIns="0">
            <a:spAutoFit/>
          </a:bodyPr>
          <a:lstStyle/>
          <a:p>
            <a:pPr algn="ctr">
              <a:lnSpc>
                <a:spcPts val="4175"/>
              </a:lnSpc>
              <a:spcBef>
                <a:spcPct val="0"/>
              </a:spcBef>
            </a:pPr>
            <a:r>
              <a:rPr lang="en-US" b="true" sz="2982">
                <a:solidFill>
                  <a:srgbClr val="000000"/>
                </a:solidFill>
                <a:latin typeface="Public Sans Bold"/>
                <a:ea typeface="Public Sans Bold"/>
                <a:cs typeface="Public Sans Bold"/>
                <a:sym typeface="Public Sans Bold"/>
              </a:rPr>
              <a:t> TikTok excels in providing a positive user experience through several key features we will discuss six of them that combine to create a compelling user experience that keeps users engaged and encourages them to return, contributing to TikTok's rapid growth and popularity.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149" r="0" b="-4961"/>
            </a:stretch>
          </a:blipFill>
        </p:spPr>
      </p:sp>
      <p:sp>
        <p:nvSpPr>
          <p:cNvPr name="Freeform 3" id="3"/>
          <p:cNvSpPr/>
          <p:nvPr/>
        </p:nvSpPr>
        <p:spPr>
          <a:xfrm flipH="false" flipV="false" rot="0">
            <a:off x="10123908" y="3154191"/>
            <a:ext cx="7135392" cy="5773181"/>
          </a:xfrm>
          <a:custGeom>
            <a:avLst/>
            <a:gdLst/>
            <a:ahLst/>
            <a:cxnLst/>
            <a:rect r="r" b="b" t="t" l="l"/>
            <a:pathLst>
              <a:path h="5773181" w="7135392">
                <a:moveTo>
                  <a:pt x="0" y="0"/>
                </a:moveTo>
                <a:lnTo>
                  <a:pt x="7135392" y="0"/>
                </a:lnTo>
                <a:lnTo>
                  <a:pt x="7135392" y="5773181"/>
                </a:lnTo>
                <a:lnTo>
                  <a:pt x="0" y="57731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76165" y="3126826"/>
            <a:ext cx="7169214" cy="5800546"/>
          </a:xfrm>
          <a:custGeom>
            <a:avLst/>
            <a:gdLst/>
            <a:ahLst/>
            <a:cxnLst/>
            <a:rect r="r" b="b" t="t" l="l"/>
            <a:pathLst>
              <a:path h="5800546" w="7169214">
                <a:moveTo>
                  <a:pt x="0" y="0"/>
                </a:moveTo>
                <a:lnTo>
                  <a:pt x="7169215" y="0"/>
                </a:lnTo>
                <a:lnTo>
                  <a:pt x="7169215" y="5800546"/>
                </a:lnTo>
                <a:lnTo>
                  <a:pt x="0" y="58005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3744745" y="3715399"/>
            <a:ext cx="4028673" cy="409575"/>
          </a:xfrm>
          <a:prstGeom prst="rect">
            <a:avLst/>
          </a:prstGeom>
        </p:spPr>
        <p:txBody>
          <a:bodyPr anchor="t" rtlCol="false" tIns="0" lIns="0" bIns="0" rIns="0">
            <a:spAutoFit/>
          </a:bodyPr>
          <a:lstStyle/>
          <a:p>
            <a:pPr algn="ctr">
              <a:lnSpc>
                <a:spcPts val="3119"/>
              </a:lnSpc>
            </a:pPr>
            <a:r>
              <a:rPr lang="en-US" b="true" sz="2599">
                <a:solidFill>
                  <a:srgbClr val="000000"/>
                </a:solidFill>
                <a:latin typeface="Public Sans Bold"/>
                <a:ea typeface="Public Sans Bold"/>
                <a:cs typeface="Public Sans Bold"/>
                <a:sym typeface="Public Sans Bold"/>
              </a:rPr>
              <a:t>INTUITIVE INTERFACE</a:t>
            </a:r>
          </a:p>
        </p:txBody>
      </p:sp>
      <p:sp>
        <p:nvSpPr>
          <p:cNvPr name="TextBox 6" id="6"/>
          <p:cNvSpPr txBox="true"/>
          <p:nvPr/>
        </p:nvSpPr>
        <p:spPr>
          <a:xfrm rot="0">
            <a:off x="3306605" y="5820424"/>
            <a:ext cx="4938774" cy="376459"/>
          </a:xfrm>
          <a:prstGeom prst="rect">
            <a:avLst/>
          </a:prstGeom>
        </p:spPr>
        <p:txBody>
          <a:bodyPr anchor="t" rtlCol="false" tIns="0" lIns="0" bIns="0" rIns="0">
            <a:spAutoFit/>
          </a:bodyPr>
          <a:lstStyle/>
          <a:p>
            <a:pPr algn="ctr">
              <a:lnSpc>
                <a:spcPts val="2950"/>
              </a:lnSpc>
            </a:pPr>
            <a:r>
              <a:rPr lang="en-US" b="true" sz="2458">
                <a:solidFill>
                  <a:srgbClr val="000000"/>
                </a:solidFill>
                <a:latin typeface="Public Sans Bold"/>
                <a:ea typeface="Public Sans Bold"/>
                <a:cs typeface="Public Sans Bold"/>
                <a:sym typeface="Public Sans Bold"/>
              </a:rPr>
              <a:t>PERSONALIZED FOR YOU PAGE </a:t>
            </a:r>
          </a:p>
        </p:txBody>
      </p:sp>
      <p:sp>
        <p:nvSpPr>
          <p:cNvPr name="TextBox 7" id="7"/>
          <p:cNvSpPr txBox="true"/>
          <p:nvPr/>
        </p:nvSpPr>
        <p:spPr>
          <a:xfrm rot="0">
            <a:off x="12562217" y="7897052"/>
            <a:ext cx="4411604" cy="752475"/>
          </a:xfrm>
          <a:prstGeom prst="rect">
            <a:avLst/>
          </a:prstGeom>
        </p:spPr>
        <p:txBody>
          <a:bodyPr anchor="t" rtlCol="false" tIns="0" lIns="0" bIns="0" rIns="0">
            <a:spAutoFit/>
          </a:bodyPr>
          <a:lstStyle/>
          <a:p>
            <a:pPr algn="ctr">
              <a:lnSpc>
                <a:spcPts val="2999"/>
              </a:lnSpc>
            </a:pPr>
            <a:r>
              <a:rPr lang="en-US" b="true" sz="2499">
                <a:solidFill>
                  <a:srgbClr val="000000"/>
                </a:solidFill>
                <a:latin typeface="Public Sans Bold"/>
                <a:ea typeface="Public Sans Bold"/>
                <a:cs typeface="Public Sans Bold"/>
                <a:sym typeface="Public Sans Bold"/>
              </a:rPr>
              <a:t>STRONG ACCESSIBILITY FEATURES</a:t>
            </a:r>
          </a:p>
        </p:txBody>
      </p:sp>
      <p:sp>
        <p:nvSpPr>
          <p:cNvPr name="TextBox 8" id="8"/>
          <p:cNvSpPr txBox="true"/>
          <p:nvPr/>
        </p:nvSpPr>
        <p:spPr>
          <a:xfrm rot="0">
            <a:off x="3306605" y="7887527"/>
            <a:ext cx="4904952" cy="800100"/>
          </a:xfrm>
          <a:prstGeom prst="rect">
            <a:avLst/>
          </a:prstGeom>
        </p:spPr>
        <p:txBody>
          <a:bodyPr anchor="t" rtlCol="false" tIns="0" lIns="0" bIns="0" rIns="0">
            <a:spAutoFit/>
          </a:bodyPr>
          <a:lstStyle/>
          <a:p>
            <a:pPr algn="ctr">
              <a:lnSpc>
                <a:spcPts val="3119"/>
              </a:lnSpc>
            </a:pPr>
            <a:r>
              <a:rPr lang="en-US" b="true" sz="2599">
                <a:solidFill>
                  <a:srgbClr val="000000"/>
                </a:solidFill>
                <a:latin typeface="Public Sans Bold"/>
                <a:ea typeface="Public Sans Bold"/>
                <a:cs typeface="Public Sans Bold"/>
                <a:sym typeface="Public Sans Bold"/>
              </a:rPr>
              <a:t>QUICK CONTENT DISCOVERY</a:t>
            </a:r>
          </a:p>
          <a:p>
            <a:pPr algn="ctr">
              <a:lnSpc>
                <a:spcPts val="3119"/>
              </a:lnSpc>
            </a:pPr>
          </a:p>
        </p:txBody>
      </p:sp>
      <p:sp>
        <p:nvSpPr>
          <p:cNvPr name="TextBox 9" id="9"/>
          <p:cNvSpPr txBox="true"/>
          <p:nvPr/>
        </p:nvSpPr>
        <p:spPr>
          <a:xfrm rot="0">
            <a:off x="12735265" y="5396783"/>
            <a:ext cx="4065507" cy="800100"/>
          </a:xfrm>
          <a:prstGeom prst="rect">
            <a:avLst/>
          </a:prstGeom>
        </p:spPr>
        <p:txBody>
          <a:bodyPr anchor="t" rtlCol="false" tIns="0" lIns="0" bIns="0" rIns="0">
            <a:spAutoFit/>
          </a:bodyPr>
          <a:lstStyle/>
          <a:p>
            <a:pPr algn="ctr">
              <a:lnSpc>
                <a:spcPts val="3119"/>
              </a:lnSpc>
            </a:pPr>
          </a:p>
          <a:p>
            <a:pPr algn="ctr">
              <a:lnSpc>
                <a:spcPts val="3119"/>
              </a:lnSpc>
            </a:pPr>
            <a:r>
              <a:rPr lang="en-US" b="true" sz="2599">
                <a:solidFill>
                  <a:srgbClr val="000000"/>
                </a:solidFill>
                <a:latin typeface="Public Sans Bold"/>
                <a:ea typeface="Public Sans Bold"/>
                <a:cs typeface="Public Sans Bold"/>
                <a:sym typeface="Public Sans Bold"/>
              </a:rPr>
              <a:t>INTERACTIVE FEATURES</a:t>
            </a:r>
          </a:p>
        </p:txBody>
      </p:sp>
      <p:sp>
        <p:nvSpPr>
          <p:cNvPr name="TextBox 10" id="10"/>
          <p:cNvSpPr txBox="true"/>
          <p:nvPr/>
        </p:nvSpPr>
        <p:spPr>
          <a:xfrm rot="0">
            <a:off x="12573225" y="3715399"/>
            <a:ext cx="4931102" cy="409575"/>
          </a:xfrm>
          <a:prstGeom prst="rect">
            <a:avLst/>
          </a:prstGeom>
        </p:spPr>
        <p:txBody>
          <a:bodyPr anchor="t" rtlCol="false" tIns="0" lIns="0" bIns="0" rIns="0">
            <a:spAutoFit/>
          </a:bodyPr>
          <a:lstStyle/>
          <a:p>
            <a:pPr algn="ctr">
              <a:lnSpc>
                <a:spcPts val="3119"/>
              </a:lnSpc>
            </a:pPr>
            <a:r>
              <a:rPr lang="en-US" b="true" sz="2599">
                <a:solidFill>
                  <a:srgbClr val="000000"/>
                </a:solidFill>
                <a:latin typeface="Public Sans Bold"/>
                <a:ea typeface="Public Sans Bold"/>
                <a:cs typeface="Public Sans Bold"/>
                <a:sym typeface="Public Sans Bold"/>
              </a:rPr>
              <a:t>COMMUNITY AND TRENDS</a:t>
            </a:r>
          </a:p>
        </p:txBody>
      </p:sp>
      <p:sp>
        <p:nvSpPr>
          <p:cNvPr name="TextBox 11" id="11"/>
          <p:cNvSpPr txBox="true"/>
          <p:nvPr/>
        </p:nvSpPr>
        <p:spPr>
          <a:xfrm rot="0">
            <a:off x="6202397" y="1200150"/>
            <a:ext cx="5883206" cy="1225609"/>
          </a:xfrm>
          <a:prstGeom prst="rect">
            <a:avLst/>
          </a:prstGeom>
        </p:spPr>
        <p:txBody>
          <a:bodyPr anchor="t" rtlCol="false" tIns="0" lIns="0" bIns="0" rIns="0">
            <a:spAutoFit/>
          </a:bodyPr>
          <a:lstStyle/>
          <a:p>
            <a:pPr algn="ctr">
              <a:lnSpc>
                <a:spcPts val="9253"/>
              </a:lnSpc>
              <a:spcBef>
                <a:spcPct val="0"/>
              </a:spcBef>
            </a:pPr>
            <a:r>
              <a:rPr lang="en-US" sz="9253">
                <a:solidFill>
                  <a:srgbClr val="000000"/>
                </a:solidFill>
                <a:latin typeface="Calistoga"/>
                <a:ea typeface="Calistoga"/>
                <a:cs typeface="Calistoga"/>
                <a:sym typeface="Calistoga"/>
              </a:rPr>
              <a:t>FEATURES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149" r="0" b="-4961"/>
            </a:stretch>
          </a:blipFill>
        </p:spPr>
      </p:sp>
      <p:pic>
        <p:nvPicPr>
          <p:cNvPr name="Picture 3" id="3"/>
          <p:cNvPicPr>
            <a:picLocks noChangeAspect="true"/>
          </p:cNvPicPr>
          <p:nvPr/>
        </p:nvPicPr>
        <p:blipFill>
          <a:blip r:embed="rId3">
            <a:alphaModFix amt="38000"/>
          </a:blip>
          <a:srcRect l="0" t="0" r="0" b="0"/>
          <a:stretch>
            <a:fillRect/>
          </a:stretch>
        </p:blipFill>
        <p:spPr>
          <a:xfrm flipH="false" flipV="false" rot="0">
            <a:off x="2106611" y="1028700"/>
            <a:ext cx="14074777" cy="1196356"/>
          </a:xfrm>
          <a:prstGeom prst="rect">
            <a:avLst/>
          </a:prstGeom>
        </p:spPr>
      </p:pic>
      <p:sp>
        <p:nvSpPr>
          <p:cNvPr name="TextBox 4" id="4"/>
          <p:cNvSpPr txBox="true"/>
          <p:nvPr/>
        </p:nvSpPr>
        <p:spPr>
          <a:xfrm rot="0">
            <a:off x="6632364" y="3905885"/>
            <a:ext cx="5023273" cy="1998980"/>
          </a:xfrm>
          <a:prstGeom prst="rect">
            <a:avLst/>
          </a:prstGeom>
        </p:spPr>
        <p:txBody>
          <a:bodyPr anchor="t" rtlCol="false" tIns="0" lIns="0" bIns="0" rIns="0">
            <a:spAutoFit/>
          </a:bodyPr>
          <a:lstStyle/>
          <a:p>
            <a:pPr algn="l">
              <a:lnSpc>
                <a:spcPts val="3219"/>
              </a:lnSpc>
              <a:spcBef>
                <a:spcPct val="0"/>
              </a:spcBef>
            </a:pPr>
            <a:r>
              <a:rPr lang="en-US" sz="2299">
                <a:solidFill>
                  <a:srgbClr val="000000"/>
                </a:solidFill>
                <a:latin typeface="Public Sans"/>
                <a:ea typeface="Public Sans"/>
                <a:cs typeface="Public Sans"/>
                <a:sym typeface="Public Sans"/>
              </a:rPr>
              <a:t>The app encourages participation in trends and challenges, allowing users to feel connected to a larger community, enhancing overall satisfaction.</a:t>
            </a:r>
          </a:p>
        </p:txBody>
      </p:sp>
      <p:sp>
        <p:nvSpPr>
          <p:cNvPr name="TextBox 5" id="5"/>
          <p:cNvSpPr txBox="true"/>
          <p:nvPr/>
        </p:nvSpPr>
        <p:spPr>
          <a:xfrm rot="0">
            <a:off x="817289" y="3251349"/>
            <a:ext cx="5023273" cy="540386"/>
          </a:xfrm>
          <a:prstGeom prst="rect">
            <a:avLst/>
          </a:prstGeom>
        </p:spPr>
        <p:txBody>
          <a:bodyPr anchor="t" rtlCol="false" tIns="0" lIns="0" bIns="0" rIns="0">
            <a:spAutoFit/>
          </a:bodyPr>
          <a:lstStyle/>
          <a:p>
            <a:pPr algn="l">
              <a:lnSpc>
                <a:spcPts val="4339"/>
              </a:lnSpc>
              <a:spcBef>
                <a:spcPct val="0"/>
              </a:spcBef>
            </a:pPr>
            <a:r>
              <a:rPr lang="en-US" sz="3099" b="true">
                <a:solidFill>
                  <a:srgbClr val="000000"/>
                </a:solidFill>
                <a:latin typeface="Public Sans Bold"/>
                <a:ea typeface="Public Sans Bold"/>
                <a:cs typeface="Public Sans Bold"/>
                <a:sym typeface="Public Sans Bold"/>
              </a:rPr>
              <a:t>Intuitive Interface</a:t>
            </a:r>
          </a:p>
        </p:txBody>
      </p:sp>
      <p:sp>
        <p:nvSpPr>
          <p:cNvPr name="TextBox 6" id="6"/>
          <p:cNvSpPr txBox="true"/>
          <p:nvPr/>
        </p:nvSpPr>
        <p:spPr>
          <a:xfrm rot="0">
            <a:off x="817289" y="3583773"/>
            <a:ext cx="5023273" cy="2929890"/>
          </a:xfrm>
          <a:prstGeom prst="rect">
            <a:avLst/>
          </a:prstGeom>
        </p:spPr>
        <p:txBody>
          <a:bodyPr anchor="t" rtlCol="false" tIns="0" lIns="0" bIns="0" rIns="0">
            <a:spAutoFit/>
          </a:bodyPr>
          <a:lstStyle/>
          <a:p>
            <a:pPr algn="l">
              <a:lnSpc>
                <a:spcPts val="3359"/>
              </a:lnSpc>
            </a:pPr>
          </a:p>
          <a:p>
            <a:pPr algn="l">
              <a:lnSpc>
                <a:spcPts val="3359"/>
              </a:lnSpc>
            </a:pPr>
            <a:r>
              <a:rPr lang="en-US" sz="2399">
                <a:solidFill>
                  <a:srgbClr val="000000"/>
                </a:solidFill>
                <a:latin typeface="Public Sans"/>
                <a:ea typeface="Public Sans"/>
                <a:cs typeface="Public Sans"/>
                <a:sym typeface="Public Sans"/>
              </a:rPr>
              <a:t>The app's design is user-friendly, allowing easy navigation through simple gestures like swiping up or down to explore content.</a:t>
            </a:r>
          </a:p>
          <a:p>
            <a:pPr algn="l">
              <a:lnSpc>
                <a:spcPts val="3359"/>
              </a:lnSpc>
            </a:pPr>
          </a:p>
          <a:p>
            <a:pPr algn="l">
              <a:lnSpc>
                <a:spcPts val="3359"/>
              </a:lnSpc>
              <a:spcBef>
                <a:spcPct val="0"/>
              </a:spcBef>
            </a:pPr>
          </a:p>
        </p:txBody>
      </p:sp>
      <p:sp>
        <p:nvSpPr>
          <p:cNvPr name="TextBox 7" id="7"/>
          <p:cNvSpPr txBox="true"/>
          <p:nvPr/>
        </p:nvSpPr>
        <p:spPr>
          <a:xfrm rot="0">
            <a:off x="817289" y="6661500"/>
            <a:ext cx="5023273" cy="540386"/>
          </a:xfrm>
          <a:prstGeom prst="rect">
            <a:avLst/>
          </a:prstGeom>
        </p:spPr>
        <p:txBody>
          <a:bodyPr anchor="t" rtlCol="false" tIns="0" lIns="0" bIns="0" rIns="0">
            <a:spAutoFit/>
          </a:bodyPr>
          <a:lstStyle/>
          <a:p>
            <a:pPr algn="l">
              <a:lnSpc>
                <a:spcPts val="4339"/>
              </a:lnSpc>
              <a:spcBef>
                <a:spcPct val="0"/>
              </a:spcBef>
            </a:pPr>
            <a:r>
              <a:rPr lang="en-US" sz="3099" b="true">
                <a:solidFill>
                  <a:srgbClr val="000000"/>
                </a:solidFill>
                <a:latin typeface="Public Sans Bold"/>
                <a:ea typeface="Public Sans Bold"/>
                <a:cs typeface="Public Sans Bold"/>
                <a:sym typeface="Public Sans Bold"/>
              </a:rPr>
              <a:t>Personalized For You Page</a:t>
            </a:r>
          </a:p>
        </p:txBody>
      </p:sp>
      <p:sp>
        <p:nvSpPr>
          <p:cNvPr name="TextBox 8" id="8"/>
          <p:cNvSpPr txBox="true"/>
          <p:nvPr/>
        </p:nvSpPr>
        <p:spPr>
          <a:xfrm rot="0">
            <a:off x="817289" y="6996431"/>
            <a:ext cx="5023273" cy="3348990"/>
          </a:xfrm>
          <a:prstGeom prst="rect">
            <a:avLst/>
          </a:prstGeom>
        </p:spPr>
        <p:txBody>
          <a:bodyPr anchor="t" rtlCol="false" tIns="0" lIns="0" bIns="0" rIns="0">
            <a:spAutoFit/>
          </a:bodyPr>
          <a:lstStyle/>
          <a:p>
            <a:pPr algn="l">
              <a:lnSpc>
                <a:spcPts val="3359"/>
              </a:lnSpc>
            </a:pPr>
          </a:p>
          <a:p>
            <a:pPr algn="l">
              <a:lnSpc>
                <a:spcPts val="3359"/>
              </a:lnSpc>
            </a:pPr>
            <a:r>
              <a:rPr lang="en-US" sz="2399">
                <a:solidFill>
                  <a:srgbClr val="000000"/>
                </a:solidFill>
                <a:latin typeface="Public Sans"/>
                <a:ea typeface="Public Sans"/>
                <a:cs typeface="Public Sans"/>
                <a:sym typeface="Public Sans"/>
              </a:rPr>
              <a:t>The FYP uses a sophisticated algorithm to deliver tailored content based on user preferences and interactions, keeping users engaged.</a:t>
            </a:r>
          </a:p>
          <a:p>
            <a:pPr algn="l">
              <a:lnSpc>
                <a:spcPts val="3359"/>
              </a:lnSpc>
            </a:pPr>
          </a:p>
          <a:p>
            <a:pPr algn="l">
              <a:lnSpc>
                <a:spcPts val="3359"/>
              </a:lnSpc>
              <a:spcBef>
                <a:spcPct val="0"/>
              </a:spcBef>
            </a:pPr>
          </a:p>
        </p:txBody>
      </p:sp>
      <p:sp>
        <p:nvSpPr>
          <p:cNvPr name="TextBox 9" id="9"/>
          <p:cNvSpPr txBox="true"/>
          <p:nvPr/>
        </p:nvSpPr>
        <p:spPr>
          <a:xfrm rot="0">
            <a:off x="3136547" y="1180346"/>
            <a:ext cx="11455198" cy="1299798"/>
          </a:xfrm>
          <a:prstGeom prst="rect">
            <a:avLst/>
          </a:prstGeom>
        </p:spPr>
        <p:txBody>
          <a:bodyPr anchor="t" rtlCol="false" tIns="0" lIns="0" bIns="0" rIns="0">
            <a:spAutoFit/>
          </a:bodyPr>
          <a:lstStyle/>
          <a:p>
            <a:pPr algn="l">
              <a:lnSpc>
                <a:spcPts val="4936"/>
              </a:lnSpc>
            </a:pPr>
            <a:r>
              <a:rPr lang="en-US" sz="3525" b="true">
                <a:solidFill>
                  <a:srgbClr val="000000"/>
                </a:solidFill>
                <a:latin typeface="Public Sans Bold"/>
                <a:ea typeface="Public Sans Bold"/>
                <a:cs typeface="Public Sans Bold"/>
                <a:sym typeface="Public Sans Bold"/>
              </a:rPr>
              <a:t>DETAILED FEATURES OF GOOD USER EXPERIENCE</a:t>
            </a:r>
          </a:p>
          <a:p>
            <a:pPr algn="l">
              <a:lnSpc>
                <a:spcPts val="5391"/>
              </a:lnSpc>
              <a:spcBef>
                <a:spcPct val="0"/>
              </a:spcBef>
            </a:pPr>
          </a:p>
        </p:txBody>
      </p:sp>
      <p:sp>
        <p:nvSpPr>
          <p:cNvPr name="TextBox 10" id="10"/>
          <p:cNvSpPr txBox="true"/>
          <p:nvPr/>
        </p:nvSpPr>
        <p:spPr>
          <a:xfrm rot="0">
            <a:off x="13013157" y="6661500"/>
            <a:ext cx="5023273" cy="540386"/>
          </a:xfrm>
          <a:prstGeom prst="rect">
            <a:avLst/>
          </a:prstGeom>
        </p:spPr>
        <p:txBody>
          <a:bodyPr anchor="t" rtlCol="false" tIns="0" lIns="0" bIns="0" rIns="0">
            <a:spAutoFit/>
          </a:bodyPr>
          <a:lstStyle/>
          <a:p>
            <a:pPr algn="l">
              <a:lnSpc>
                <a:spcPts val="4339"/>
              </a:lnSpc>
              <a:spcBef>
                <a:spcPct val="0"/>
              </a:spcBef>
            </a:pPr>
            <a:r>
              <a:rPr lang="en-US" sz="3099" b="true">
                <a:solidFill>
                  <a:srgbClr val="000000"/>
                </a:solidFill>
                <a:latin typeface="Public Sans Bold"/>
                <a:ea typeface="Public Sans Bold"/>
                <a:cs typeface="Public Sans Bold"/>
                <a:sym typeface="Public Sans Bold"/>
              </a:rPr>
              <a:t>Interactive Features</a:t>
            </a:r>
          </a:p>
        </p:txBody>
      </p:sp>
      <p:sp>
        <p:nvSpPr>
          <p:cNvPr name="TextBox 11" id="11"/>
          <p:cNvSpPr txBox="true"/>
          <p:nvPr/>
        </p:nvSpPr>
        <p:spPr>
          <a:xfrm rot="0">
            <a:off x="12781044" y="3251349"/>
            <a:ext cx="5023273" cy="540386"/>
          </a:xfrm>
          <a:prstGeom prst="rect">
            <a:avLst/>
          </a:prstGeom>
        </p:spPr>
        <p:txBody>
          <a:bodyPr anchor="t" rtlCol="false" tIns="0" lIns="0" bIns="0" rIns="0">
            <a:spAutoFit/>
          </a:bodyPr>
          <a:lstStyle/>
          <a:p>
            <a:pPr algn="l">
              <a:lnSpc>
                <a:spcPts val="4339"/>
              </a:lnSpc>
              <a:spcBef>
                <a:spcPct val="0"/>
              </a:spcBef>
            </a:pPr>
            <a:r>
              <a:rPr lang="en-US" sz="3099" b="true">
                <a:solidFill>
                  <a:srgbClr val="000000"/>
                </a:solidFill>
                <a:latin typeface="Public Sans Bold"/>
                <a:ea typeface="Public Sans Bold"/>
                <a:cs typeface="Public Sans Bold"/>
                <a:sym typeface="Public Sans Bold"/>
              </a:rPr>
              <a:t>Quick Content Discovery</a:t>
            </a:r>
          </a:p>
        </p:txBody>
      </p:sp>
      <p:sp>
        <p:nvSpPr>
          <p:cNvPr name="TextBox 12" id="12"/>
          <p:cNvSpPr txBox="true"/>
          <p:nvPr/>
        </p:nvSpPr>
        <p:spPr>
          <a:xfrm rot="0">
            <a:off x="6650773" y="6745288"/>
            <a:ext cx="5495615" cy="532330"/>
          </a:xfrm>
          <a:prstGeom prst="rect">
            <a:avLst/>
          </a:prstGeom>
        </p:spPr>
        <p:txBody>
          <a:bodyPr anchor="t" rtlCol="false" tIns="0" lIns="0" bIns="0" rIns="0">
            <a:spAutoFit/>
          </a:bodyPr>
          <a:lstStyle/>
          <a:p>
            <a:pPr algn="l">
              <a:lnSpc>
                <a:spcPts val="4258"/>
              </a:lnSpc>
              <a:spcBef>
                <a:spcPct val="0"/>
              </a:spcBef>
            </a:pPr>
            <a:r>
              <a:rPr lang="en-US" sz="3042" b="true">
                <a:solidFill>
                  <a:srgbClr val="000000"/>
                </a:solidFill>
                <a:latin typeface="Public Sans Bold"/>
                <a:ea typeface="Public Sans Bold"/>
                <a:cs typeface="Public Sans Bold"/>
                <a:sym typeface="Public Sans Bold"/>
              </a:rPr>
              <a:t>Strong Accessibility Features</a:t>
            </a:r>
          </a:p>
        </p:txBody>
      </p:sp>
      <p:sp>
        <p:nvSpPr>
          <p:cNvPr name="TextBox 13" id="13"/>
          <p:cNvSpPr txBox="true"/>
          <p:nvPr/>
        </p:nvSpPr>
        <p:spPr>
          <a:xfrm rot="0">
            <a:off x="6650773" y="3244364"/>
            <a:ext cx="5023273" cy="547371"/>
          </a:xfrm>
          <a:prstGeom prst="rect">
            <a:avLst/>
          </a:prstGeom>
        </p:spPr>
        <p:txBody>
          <a:bodyPr anchor="t" rtlCol="false" tIns="0" lIns="0" bIns="0" rIns="0">
            <a:spAutoFit/>
          </a:bodyPr>
          <a:lstStyle/>
          <a:p>
            <a:pPr algn="l">
              <a:lnSpc>
                <a:spcPts val="4479"/>
              </a:lnSpc>
              <a:spcBef>
                <a:spcPct val="0"/>
              </a:spcBef>
            </a:pPr>
            <a:r>
              <a:rPr lang="en-US" sz="3199" b="true">
                <a:solidFill>
                  <a:srgbClr val="000000"/>
                </a:solidFill>
                <a:latin typeface="Public Sans Bold"/>
                <a:ea typeface="Public Sans Bold"/>
                <a:cs typeface="Public Sans Bold"/>
                <a:sym typeface="Public Sans Bold"/>
              </a:rPr>
              <a:t>Community and Trends</a:t>
            </a:r>
          </a:p>
        </p:txBody>
      </p:sp>
      <p:sp>
        <p:nvSpPr>
          <p:cNvPr name="TextBox 14" id="14"/>
          <p:cNvSpPr txBox="true"/>
          <p:nvPr/>
        </p:nvSpPr>
        <p:spPr>
          <a:xfrm rot="0">
            <a:off x="12781044" y="4069080"/>
            <a:ext cx="5023273" cy="1672590"/>
          </a:xfrm>
          <a:prstGeom prst="rect">
            <a:avLst/>
          </a:prstGeom>
        </p:spPr>
        <p:txBody>
          <a:bodyPr anchor="t" rtlCol="false" tIns="0" lIns="0" bIns="0" rIns="0">
            <a:spAutoFit/>
          </a:bodyPr>
          <a:lstStyle/>
          <a:p>
            <a:pPr algn="l">
              <a:lnSpc>
                <a:spcPts val="3359"/>
              </a:lnSpc>
              <a:spcBef>
                <a:spcPct val="0"/>
              </a:spcBef>
            </a:pPr>
            <a:r>
              <a:rPr lang="en-US" sz="2399">
                <a:solidFill>
                  <a:srgbClr val="000000"/>
                </a:solidFill>
                <a:latin typeface="Public Sans"/>
                <a:ea typeface="Public Sans"/>
                <a:cs typeface="Public Sans"/>
                <a:sym typeface="Public Sans"/>
              </a:rPr>
              <a:t>The Discover page helps users find trending challenges, hashtags, and popular creators, enhancing the exploration experience.</a:t>
            </a:r>
          </a:p>
        </p:txBody>
      </p:sp>
      <p:sp>
        <p:nvSpPr>
          <p:cNvPr name="TextBox 15" id="15"/>
          <p:cNvSpPr txBox="true"/>
          <p:nvPr/>
        </p:nvSpPr>
        <p:spPr>
          <a:xfrm rot="0">
            <a:off x="13013157" y="7585710"/>
            <a:ext cx="5023273" cy="2510790"/>
          </a:xfrm>
          <a:prstGeom prst="rect">
            <a:avLst/>
          </a:prstGeom>
        </p:spPr>
        <p:txBody>
          <a:bodyPr anchor="t" rtlCol="false" tIns="0" lIns="0" bIns="0" rIns="0">
            <a:spAutoFit/>
          </a:bodyPr>
          <a:lstStyle/>
          <a:p>
            <a:pPr algn="l">
              <a:lnSpc>
                <a:spcPts val="3359"/>
              </a:lnSpc>
            </a:pPr>
            <a:r>
              <a:rPr lang="en-US" sz="2399">
                <a:solidFill>
                  <a:srgbClr val="000000"/>
                </a:solidFill>
                <a:latin typeface="Public Sans"/>
                <a:ea typeface="Public Sans"/>
                <a:cs typeface="Public Sans"/>
                <a:sym typeface="Public Sans"/>
              </a:rPr>
              <a:t>Options like Duets and Stitching allow users to collaborate and interact with others, fostering a sense of community and creativity.</a:t>
            </a:r>
          </a:p>
          <a:p>
            <a:pPr algn="l">
              <a:lnSpc>
                <a:spcPts val="3359"/>
              </a:lnSpc>
            </a:pPr>
          </a:p>
          <a:p>
            <a:pPr algn="l">
              <a:lnSpc>
                <a:spcPts val="3359"/>
              </a:lnSpc>
              <a:spcBef>
                <a:spcPct val="0"/>
              </a:spcBef>
            </a:pPr>
          </a:p>
        </p:txBody>
      </p:sp>
      <p:sp>
        <p:nvSpPr>
          <p:cNvPr name="TextBox 16" id="16"/>
          <p:cNvSpPr txBox="true"/>
          <p:nvPr/>
        </p:nvSpPr>
        <p:spPr>
          <a:xfrm rot="0">
            <a:off x="6632364" y="7585710"/>
            <a:ext cx="5023273" cy="1672590"/>
          </a:xfrm>
          <a:prstGeom prst="rect">
            <a:avLst/>
          </a:prstGeom>
        </p:spPr>
        <p:txBody>
          <a:bodyPr anchor="t" rtlCol="false" tIns="0" lIns="0" bIns="0" rIns="0">
            <a:spAutoFit/>
          </a:bodyPr>
          <a:lstStyle/>
          <a:p>
            <a:pPr algn="l">
              <a:lnSpc>
                <a:spcPts val="3359"/>
              </a:lnSpc>
              <a:spcBef>
                <a:spcPct val="0"/>
              </a:spcBef>
            </a:pPr>
            <a:r>
              <a:rPr lang="en-US" sz="2399">
                <a:solidFill>
                  <a:srgbClr val="000000"/>
                </a:solidFill>
                <a:latin typeface="Public Sans"/>
                <a:ea typeface="Public Sans"/>
                <a:cs typeface="Public Sans"/>
                <a:sym typeface="Public Sans"/>
              </a:rPr>
              <a:t>TikTok includes features like auto-captions and text-to-speech, making the platform more inclusive for users with disabilities.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149" r="0" b="-4961"/>
            </a:stretch>
          </a:blipFill>
        </p:spPr>
      </p:sp>
      <p:sp>
        <p:nvSpPr>
          <p:cNvPr name="TextBox 3" id="3"/>
          <p:cNvSpPr txBox="true"/>
          <p:nvPr/>
        </p:nvSpPr>
        <p:spPr>
          <a:xfrm rot="0">
            <a:off x="9011629" y="3572430"/>
            <a:ext cx="6286371" cy="2365864"/>
          </a:xfrm>
          <a:prstGeom prst="rect">
            <a:avLst/>
          </a:prstGeom>
        </p:spPr>
        <p:txBody>
          <a:bodyPr anchor="t" rtlCol="false" tIns="0" lIns="0" bIns="0" rIns="0">
            <a:spAutoFit/>
          </a:bodyPr>
          <a:lstStyle/>
          <a:p>
            <a:pPr algn="l">
              <a:lnSpc>
                <a:spcPts val="6144"/>
              </a:lnSpc>
            </a:pPr>
            <a:r>
              <a:rPr lang="en-US" sz="6144" b="true">
                <a:solidFill>
                  <a:srgbClr val="000000"/>
                </a:solidFill>
                <a:latin typeface="Public Sans Bold"/>
                <a:ea typeface="Public Sans Bold"/>
                <a:cs typeface="Public Sans Bold"/>
                <a:sym typeface="Public Sans Bold"/>
              </a:rPr>
              <a:t>BAD USER EXPERIENCE IN TIKTOK</a:t>
            </a:r>
          </a:p>
        </p:txBody>
      </p:sp>
      <p:sp>
        <p:nvSpPr>
          <p:cNvPr name="TextBox 4" id="4"/>
          <p:cNvSpPr txBox="true"/>
          <p:nvPr/>
        </p:nvSpPr>
        <p:spPr>
          <a:xfrm rot="0">
            <a:off x="2525964" y="6678140"/>
            <a:ext cx="14015668" cy="2086417"/>
          </a:xfrm>
          <a:prstGeom prst="rect">
            <a:avLst/>
          </a:prstGeom>
        </p:spPr>
        <p:txBody>
          <a:bodyPr anchor="t" rtlCol="false" tIns="0" lIns="0" bIns="0" rIns="0">
            <a:spAutoFit/>
          </a:bodyPr>
          <a:lstStyle/>
          <a:p>
            <a:pPr algn="ctr">
              <a:lnSpc>
                <a:spcPts val="4175"/>
              </a:lnSpc>
              <a:spcBef>
                <a:spcPct val="0"/>
              </a:spcBef>
            </a:pPr>
            <a:r>
              <a:rPr lang="en-US" b="true" sz="2982">
                <a:solidFill>
                  <a:srgbClr val="000000"/>
                </a:solidFill>
                <a:latin typeface="Public Sans Bold"/>
                <a:ea typeface="Public Sans Bold"/>
                <a:cs typeface="Public Sans Bold"/>
                <a:sym typeface="Public Sans Bold"/>
              </a:rPr>
              <a:t>Despite its strengths, TikTok also has several areas where user experience could be improved,These issues can detract from the overall user experience, highlighting the need for continuous improvement in TikTok's design and features to ensure a more balanced and satisfying platform for all users</a:t>
            </a:r>
          </a:p>
        </p:txBody>
      </p:sp>
      <p:sp>
        <p:nvSpPr>
          <p:cNvPr name="Freeform 5" id="5"/>
          <p:cNvSpPr/>
          <p:nvPr/>
        </p:nvSpPr>
        <p:spPr>
          <a:xfrm flipH="false" flipV="false" rot="489129">
            <a:off x="5864945" y="1900031"/>
            <a:ext cx="2871134" cy="4090995"/>
          </a:xfrm>
          <a:custGeom>
            <a:avLst/>
            <a:gdLst/>
            <a:ahLst/>
            <a:cxnLst/>
            <a:rect r="r" b="b" t="t" l="l"/>
            <a:pathLst>
              <a:path h="4090995" w="2871134">
                <a:moveTo>
                  <a:pt x="0" y="0"/>
                </a:moveTo>
                <a:lnTo>
                  <a:pt x="2871134" y="0"/>
                </a:lnTo>
                <a:lnTo>
                  <a:pt x="2871134" y="4090994"/>
                </a:lnTo>
                <a:lnTo>
                  <a:pt x="0" y="40909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149" r="0" b="-4961"/>
            </a:stretch>
          </a:blipFill>
        </p:spPr>
      </p:sp>
      <p:sp>
        <p:nvSpPr>
          <p:cNvPr name="Freeform 3" id="3"/>
          <p:cNvSpPr/>
          <p:nvPr/>
        </p:nvSpPr>
        <p:spPr>
          <a:xfrm flipH="false" flipV="false" rot="0">
            <a:off x="9757281" y="698530"/>
            <a:ext cx="6285357" cy="8229600"/>
          </a:xfrm>
          <a:custGeom>
            <a:avLst/>
            <a:gdLst/>
            <a:ahLst/>
            <a:cxnLst/>
            <a:rect r="r" b="b" t="t" l="l"/>
            <a:pathLst>
              <a:path h="8229600" w="6285357">
                <a:moveTo>
                  <a:pt x="0" y="0"/>
                </a:moveTo>
                <a:lnTo>
                  <a:pt x="6285357" y="0"/>
                </a:lnTo>
                <a:lnTo>
                  <a:pt x="6285357" y="8229600"/>
                </a:lnTo>
                <a:lnTo>
                  <a:pt x="0" y="8229600"/>
                </a:lnTo>
                <a:lnTo>
                  <a:pt x="0" y="0"/>
                </a:lnTo>
                <a:close/>
              </a:path>
            </a:pathLst>
          </a:custGeom>
          <a:blipFill>
            <a:blip r:embed="rId3"/>
            <a:stretch>
              <a:fillRect l="0" t="0" r="0" b="0"/>
            </a:stretch>
          </a:blipFill>
        </p:spPr>
      </p:sp>
      <p:sp>
        <p:nvSpPr>
          <p:cNvPr name="TextBox 4" id="4"/>
          <p:cNvSpPr txBox="true"/>
          <p:nvPr/>
        </p:nvSpPr>
        <p:spPr>
          <a:xfrm rot="0">
            <a:off x="10147980" y="1246773"/>
            <a:ext cx="5503958" cy="486280"/>
          </a:xfrm>
          <a:prstGeom prst="rect">
            <a:avLst/>
          </a:prstGeom>
        </p:spPr>
        <p:txBody>
          <a:bodyPr anchor="t" rtlCol="false" tIns="0" lIns="0" bIns="0" rIns="0">
            <a:spAutoFit/>
          </a:bodyPr>
          <a:lstStyle/>
          <a:p>
            <a:pPr algn="ctr">
              <a:lnSpc>
                <a:spcPts val="3732"/>
              </a:lnSpc>
            </a:pPr>
            <a:r>
              <a:rPr lang="en-US" b="true" sz="3110">
                <a:solidFill>
                  <a:srgbClr val="000000"/>
                </a:solidFill>
                <a:latin typeface="Public Sans Bold"/>
                <a:ea typeface="Public Sans Bold"/>
                <a:cs typeface="Public Sans Bold"/>
                <a:sym typeface="Public Sans Bold"/>
              </a:rPr>
              <a:t>ADDICTIVE ALGORITHM</a:t>
            </a:r>
          </a:p>
        </p:txBody>
      </p:sp>
      <p:sp>
        <p:nvSpPr>
          <p:cNvPr name="TextBox 5" id="5"/>
          <p:cNvSpPr txBox="true"/>
          <p:nvPr/>
        </p:nvSpPr>
        <p:spPr>
          <a:xfrm rot="0">
            <a:off x="10284203" y="2704603"/>
            <a:ext cx="4938774" cy="771525"/>
          </a:xfrm>
          <a:prstGeom prst="rect">
            <a:avLst/>
          </a:prstGeom>
        </p:spPr>
        <p:txBody>
          <a:bodyPr anchor="t" rtlCol="false" tIns="0" lIns="0" bIns="0" rIns="0">
            <a:spAutoFit/>
          </a:bodyPr>
          <a:lstStyle/>
          <a:p>
            <a:pPr algn="ctr">
              <a:lnSpc>
                <a:spcPts val="3070"/>
              </a:lnSpc>
            </a:pPr>
            <a:r>
              <a:rPr lang="en-US" b="true" sz="2558">
                <a:solidFill>
                  <a:srgbClr val="000000"/>
                </a:solidFill>
                <a:latin typeface="Public Sans Bold"/>
                <a:ea typeface="Public Sans Bold"/>
                <a:cs typeface="Public Sans Bold"/>
                <a:sym typeface="Public Sans Bold"/>
              </a:rPr>
              <a:t>CONFUSING PRIVACY SETTINGS</a:t>
            </a:r>
          </a:p>
        </p:txBody>
      </p:sp>
      <p:sp>
        <p:nvSpPr>
          <p:cNvPr name="TextBox 6" id="6"/>
          <p:cNvSpPr txBox="true"/>
          <p:nvPr/>
        </p:nvSpPr>
        <p:spPr>
          <a:xfrm rot="0">
            <a:off x="10447483" y="4438153"/>
            <a:ext cx="4904952" cy="409575"/>
          </a:xfrm>
          <a:prstGeom prst="rect">
            <a:avLst/>
          </a:prstGeom>
        </p:spPr>
        <p:txBody>
          <a:bodyPr anchor="t" rtlCol="false" tIns="0" lIns="0" bIns="0" rIns="0">
            <a:spAutoFit/>
          </a:bodyPr>
          <a:lstStyle/>
          <a:p>
            <a:pPr algn="ctr">
              <a:lnSpc>
                <a:spcPts val="3119"/>
              </a:lnSpc>
            </a:pPr>
          </a:p>
        </p:txBody>
      </p:sp>
      <p:sp>
        <p:nvSpPr>
          <p:cNvPr name="TextBox 7" id="7"/>
          <p:cNvSpPr txBox="true"/>
          <p:nvPr/>
        </p:nvSpPr>
        <p:spPr>
          <a:xfrm rot="0">
            <a:off x="10720836" y="7927733"/>
            <a:ext cx="4065507" cy="800100"/>
          </a:xfrm>
          <a:prstGeom prst="rect">
            <a:avLst/>
          </a:prstGeom>
        </p:spPr>
        <p:txBody>
          <a:bodyPr anchor="t" rtlCol="false" tIns="0" lIns="0" bIns="0" rIns="0">
            <a:spAutoFit/>
          </a:bodyPr>
          <a:lstStyle/>
          <a:p>
            <a:pPr algn="ctr">
              <a:lnSpc>
                <a:spcPts val="3119"/>
              </a:lnSpc>
            </a:pPr>
            <a:r>
              <a:rPr lang="en-US" b="true" sz="2599">
                <a:solidFill>
                  <a:srgbClr val="000000"/>
                </a:solidFill>
                <a:latin typeface="Public Sans Bold"/>
                <a:ea typeface="Public Sans Bold"/>
                <a:cs typeface="Public Sans Bold"/>
                <a:sym typeface="Public Sans Bold"/>
              </a:rPr>
              <a:t>INCONSISTENT CONTENT MODERATION</a:t>
            </a:r>
          </a:p>
        </p:txBody>
      </p:sp>
      <p:sp>
        <p:nvSpPr>
          <p:cNvPr name="TextBox 8" id="8"/>
          <p:cNvSpPr txBox="true"/>
          <p:nvPr/>
        </p:nvSpPr>
        <p:spPr>
          <a:xfrm rot="0">
            <a:off x="10147980" y="6167865"/>
            <a:ext cx="5503958" cy="445418"/>
          </a:xfrm>
          <a:prstGeom prst="rect">
            <a:avLst/>
          </a:prstGeom>
        </p:spPr>
        <p:txBody>
          <a:bodyPr anchor="t" rtlCol="false" tIns="0" lIns="0" bIns="0" rIns="0">
            <a:spAutoFit/>
          </a:bodyPr>
          <a:lstStyle/>
          <a:p>
            <a:pPr algn="ctr">
              <a:lnSpc>
                <a:spcPts val="3482"/>
              </a:lnSpc>
            </a:pPr>
            <a:r>
              <a:rPr lang="en-US" b="true" sz="2902">
                <a:solidFill>
                  <a:srgbClr val="000000"/>
                </a:solidFill>
                <a:latin typeface="Public Sans Bold"/>
                <a:ea typeface="Public Sans Bold"/>
                <a:cs typeface="Public Sans Bold"/>
                <a:sym typeface="Public Sans Bold"/>
              </a:rPr>
              <a:t>NOTIFICATION OVERLOAD</a:t>
            </a:r>
          </a:p>
        </p:txBody>
      </p:sp>
      <p:sp>
        <p:nvSpPr>
          <p:cNvPr name="TextBox 9" id="9"/>
          <p:cNvSpPr txBox="true"/>
          <p:nvPr/>
        </p:nvSpPr>
        <p:spPr>
          <a:xfrm rot="0">
            <a:off x="1342888" y="507444"/>
            <a:ext cx="5883206" cy="1225609"/>
          </a:xfrm>
          <a:prstGeom prst="rect">
            <a:avLst/>
          </a:prstGeom>
        </p:spPr>
        <p:txBody>
          <a:bodyPr anchor="t" rtlCol="false" tIns="0" lIns="0" bIns="0" rIns="0">
            <a:spAutoFit/>
          </a:bodyPr>
          <a:lstStyle/>
          <a:p>
            <a:pPr algn="ctr">
              <a:lnSpc>
                <a:spcPts val="9253"/>
              </a:lnSpc>
              <a:spcBef>
                <a:spcPct val="0"/>
              </a:spcBef>
            </a:pPr>
            <a:r>
              <a:rPr lang="en-US" sz="9253">
                <a:solidFill>
                  <a:srgbClr val="000000"/>
                </a:solidFill>
                <a:latin typeface="Calistoga"/>
                <a:ea typeface="Calistoga"/>
                <a:cs typeface="Calistoga"/>
                <a:sym typeface="Calistoga"/>
              </a:rPr>
              <a:t>FEATURES</a:t>
            </a:r>
          </a:p>
        </p:txBody>
      </p:sp>
      <p:sp>
        <p:nvSpPr>
          <p:cNvPr name="TextBox 10" id="10"/>
          <p:cNvSpPr txBox="true"/>
          <p:nvPr/>
        </p:nvSpPr>
        <p:spPr>
          <a:xfrm rot="0">
            <a:off x="10318025" y="4463236"/>
            <a:ext cx="4904952" cy="800100"/>
          </a:xfrm>
          <a:prstGeom prst="rect">
            <a:avLst/>
          </a:prstGeom>
        </p:spPr>
        <p:txBody>
          <a:bodyPr anchor="t" rtlCol="false" tIns="0" lIns="0" bIns="0" rIns="0">
            <a:spAutoFit/>
          </a:bodyPr>
          <a:lstStyle/>
          <a:p>
            <a:pPr algn="ctr">
              <a:lnSpc>
                <a:spcPts val="3119"/>
              </a:lnSpc>
              <a:spcBef>
                <a:spcPct val="0"/>
              </a:spcBef>
            </a:pPr>
            <a:r>
              <a:rPr lang="en-US" b="true" sz="2599">
                <a:solidFill>
                  <a:srgbClr val="000000"/>
                </a:solidFill>
                <a:latin typeface="Public Sans Bold"/>
                <a:ea typeface="Public Sans Bold"/>
                <a:cs typeface="Public Sans Bold"/>
                <a:sym typeface="Public Sans Bold"/>
              </a:rPr>
              <a:t>LIMITED VIDEO PLAYBACK CONTROLS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149" r="0" b="-4961"/>
            </a:stretch>
          </a:blipFill>
        </p:spPr>
      </p:sp>
      <p:pic>
        <p:nvPicPr>
          <p:cNvPr name="Picture 3" id="3"/>
          <p:cNvPicPr>
            <a:picLocks noChangeAspect="true"/>
          </p:cNvPicPr>
          <p:nvPr/>
        </p:nvPicPr>
        <p:blipFill>
          <a:blip r:embed="rId3">
            <a:alphaModFix amt="38000"/>
          </a:blip>
          <a:srcRect l="0" t="0" r="0" b="0"/>
          <a:stretch>
            <a:fillRect/>
          </a:stretch>
        </p:blipFill>
        <p:spPr>
          <a:xfrm flipH="false" flipV="false" rot="0">
            <a:off x="2106611" y="1028700"/>
            <a:ext cx="14074777" cy="1196356"/>
          </a:xfrm>
          <a:prstGeom prst="rect">
            <a:avLst/>
          </a:prstGeom>
        </p:spPr>
      </p:pic>
      <p:sp>
        <p:nvSpPr>
          <p:cNvPr name="TextBox 4" id="4"/>
          <p:cNvSpPr txBox="true"/>
          <p:nvPr/>
        </p:nvSpPr>
        <p:spPr>
          <a:xfrm rot="0">
            <a:off x="6632364" y="3905885"/>
            <a:ext cx="5023273" cy="1598930"/>
          </a:xfrm>
          <a:prstGeom prst="rect">
            <a:avLst/>
          </a:prstGeom>
        </p:spPr>
        <p:txBody>
          <a:bodyPr anchor="t" rtlCol="false" tIns="0" lIns="0" bIns="0" rIns="0">
            <a:spAutoFit/>
          </a:bodyPr>
          <a:lstStyle/>
          <a:p>
            <a:pPr algn="l">
              <a:lnSpc>
                <a:spcPts val="3219"/>
              </a:lnSpc>
              <a:spcBef>
                <a:spcPct val="0"/>
              </a:spcBef>
            </a:pPr>
            <a:r>
              <a:rPr lang="en-US" sz="2299">
                <a:solidFill>
                  <a:srgbClr val="000000"/>
                </a:solidFill>
                <a:latin typeface="Public Sans"/>
                <a:ea typeface="Public Sans"/>
                <a:cs typeface="Public Sans"/>
                <a:sym typeface="Public Sans"/>
              </a:rPr>
              <a:t>Users cannot easily rewind or fast-forward videos, which can be frustrating, especially when watching longer content or tutorials</a:t>
            </a:r>
          </a:p>
        </p:txBody>
      </p:sp>
      <p:sp>
        <p:nvSpPr>
          <p:cNvPr name="TextBox 5" id="5"/>
          <p:cNvSpPr txBox="true"/>
          <p:nvPr/>
        </p:nvSpPr>
        <p:spPr>
          <a:xfrm rot="0">
            <a:off x="817289" y="3251349"/>
            <a:ext cx="5023273" cy="540386"/>
          </a:xfrm>
          <a:prstGeom prst="rect">
            <a:avLst/>
          </a:prstGeom>
        </p:spPr>
        <p:txBody>
          <a:bodyPr anchor="t" rtlCol="false" tIns="0" lIns="0" bIns="0" rIns="0">
            <a:spAutoFit/>
          </a:bodyPr>
          <a:lstStyle/>
          <a:p>
            <a:pPr algn="l">
              <a:lnSpc>
                <a:spcPts val="4339"/>
              </a:lnSpc>
              <a:spcBef>
                <a:spcPct val="0"/>
              </a:spcBef>
            </a:pPr>
            <a:r>
              <a:rPr lang="en-US" sz="3099" b="true">
                <a:solidFill>
                  <a:srgbClr val="000000"/>
                </a:solidFill>
                <a:latin typeface="Public Sans Bold"/>
                <a:ea typeface="Public Sans Bold"/>
                <a:cs typeface="Public Sans Bold"/>
                <a:sym typeface="Public Sans Bold"/>
              </a:rPr>
              <a:t>Addictive Algorithm</a:t>
            </a:r>
          </a:p>
        </p:txBody>
      </p:sp>
      <p:sp>
        <p:nvSpPr>
          <p:cNvPr name="TextBox 6" id="6"/>
          <p:cNvSpPr txBox="true"/>
          <p:nvPr/>
        </p:nvSpPr>
        <p:spPr>
          <a:xfrm rot="0">
            <a:off x="817289" y="3980747"/>
            <a:ext cx="5023273" cy="2510790"/>
          </a:xfrm>
          <a:prstGeom prst="rect">
            <a:avLst/>
          </a:prstGeom>
        </p:spPr>
        <p:txBody>
          <a:bodyPr anchor="t" rtlCol="false" tIns="0" lIns="0" bIns="0" rIns="0">
            <a:spAutoFit/>
          </a:bodyPr>
          <a:lstStyle/>
          <a:p>
            <a:pPr algn="l">
              <a:lnSpc>
                <a:spcPts val="3359"/>
              </a:lnSpc>
              <a:spcBef>
                <a:spcPct val="0"/>
              </a:spcBef>
            </a:pPr>
            <a:r>
              <a:rPr lang="en-US" sz="2399">
                <a:solidFill>
                  <a:srgbClr val="000000"/>
                </a:solidFill>
                <a:latin typeface="Public Sans"/>
                <a:ea typeface="Public Sans"/>
                <a:cs typeface="Public Sans"/>
                <a:sym typeface="Public Sans"/>
              </a:rPr>
              <a:t>The FYP can be overly engaging, leading to excessive screen time and difficulty in moderating usage. Users may find it hard to stop scrolling, contributing to unhealthy habits.</a:t>
            </a:r>
          </a:p>
        </p:txBody>
      </p:sp>
      <p:sp>
        <p:nvSpPr>
          <p:cNvPr name="TextBox 7" id="7"/>
          <p:cNvSpPr txBox="true"/>
          <p:nvPr/>
        </p:nvSpPr>
        <p:spPr>
          <a:xfrm rot="0">
            <a:off x="817289" y="6671025"/>
            <a:ext cx="5023273" cy="514351"/>
          </a:xfrm>
          <a:prstGeom prst="rect">
            <a:avLst/>
          </a:prstGeom>
        </p:spPr>
        <p:txBody>
          <a:bodyPr anchor="t" rtlCol="false" tIns="0" lIns="0" bIns="0" rIns="0">
            <a:spAutoFit/>
          </a:bodyPr>
          <a:lstStyle/>
          <a:p>
            <a:pPr algn="l">
              <a:lnSpc>
                <a:spcPts val="4199"/>
              </a:lnSpc>
              <a:spcBef>
                <a:spcPct val="0"/>
              </a:spcBef>
            </a:pPr>
            <a:r>
              <a:rPr lang="en-US" sz="2999" b="true">
                <a:solidFill>
                  <a:srgbClr val="000000"/>
                </a:solidFill>
                <a:latin typeface="Public Sans Bold"/>
                <a:ea typeface="Public Sans Bold"/>
                <a:cs typeface="Public Sans Bold"/>
                <a:sym typeface="Public Sans Bold"/>
              </a:rPr>
              <a:t>Confusing Privacy Settings</a:t>
            </a:r>
          </a:p>
        </p:txBody>
      </p:sp>
      <p:sp>
        <p:nvSpPr>
          <p:cNvPr name="TextBox 8" id="8"/>
          <p:cNvSpPr txBox="true"/>
          <p:nvPr/>
        </p:nvSpPr>
        <p:spPr>
          <a:xfrm rot="0">
            <a:off x="817289" y="7375875"/>
            <a:ext cx="5023273" cy="2510790"/>
          </a:xfrm>
          <a:prstGeom prst="rect">
            <a:avLst/>
          </a:prstGeom>
        </p:spPr>
        <p:txBody>
          <a:bodyPr anchor="t" rtlCol="false" tIns="0" lIns="0" bIns="0" rIns="0">
            <a:spAutoFit/>
          </a:bodyPr>
          <a:lstStyle/>
          <a:p>
            <a:pPr algn="l">
              <a:lnSpc>
                <a:spcPts val="3359"/>
              </a:lnSpc>
              <a:spcBef>
                <a:spcPct val="0"/>
              </a:spcBef>
            </a:pPr>
            <a:r>
              <a:rPr lang="en-US" sz="2399">
                <a:solidFill>
                  <a:srgbClr val="000000"/>
                </a:solidFill>
                <a:latin typeface="Public Sans"/>
                <a:ea typeface="Public Sans"/>
                <a:cs typeface="Public Sans"/>
                <a:sym typeface="Public Sans"/>
              </a:rPr>
              <a:t>TikTok's privacy controls can be unclear, making it challenging for users to understand who can see their content and how their data is used. This can lead to discomfort and concern over personal privacy.</a:t>
            </a:r>
          </a:p>
        </p:txBody>
      </p:sp>
      <p:sp>
        <p:nvSpPr>
          <p:cNvPr name="TextBox 9" id="9"/>
          <p:cNvSpPr txBox="true"/>
          <p:nvPr/>
        </p:nvSpPr>
        <p:spPr>
          <a:xfrm rot="0">
            <a:off x="3136547" y="1180346"/>
            <a:ext cx="11455198" cy="1299798"/>
          </a:xfrm>
          <a:prstGeom prst="rect">
            <a:avLst/>
          </a:prstGeom>
        </p:spPr>
        <p:txBody>
          <a:bodyPr anchor="t" rtlCol="false" tIns="0" lIns="0" bIns="0" rIns="0">
            <a:spAutoFit/>
          </a:bodyPr>
          <a:lstStyle/>
          <a:p>
            <a:pPr algn="l">
              <a:lnSpc>
                <a:spcPts val="4936"/>
              </a:lnSpc>
            </a:pPr>
            <a:r>
              <a:rPr lang="en-US" sz="3525" b="true">
                <a:solidFill>
                  <a:srgbClr val="000000"/>
                </a:solidFill>
                <a:latin typeface="Public Sans Bold"/>
                <a:ea typeface="Public Sans Bold"/>
                <a:cs typeface="Public Sans Bold"/>
                <a:sym typeface="Public Sans Bold"/>
              </a:rPr>
              <a:t>DETAILED FEATURES OF BAD USER EXPERIENCE</a:t>
            </a:r>
          </a:p>
          <a:p>
            <a:pPr algn="l">
              <a:lnSpc>
                <a:spcPts val="5391"/>
              </a:lnSpc>
              <a:spcBef>
                <a:spcPct val="0"/>
              </a:spcBef>
            </a:pPr>
          </a:p>
        </p:txBody>
      </p:sp>
      <p:sp>
        <p:nvSpPr>
          <p:cNvPr name="TextBox 10" id="10"/>
          <p:cNvSpPr txBox="true"/>
          <p:nvPr/>
        </p:nvSpPr>
        <p:spPr>
          <a:xfrm rot="0">
            <a:off x="11772517" y="5596572"/>
            <a:ext cx="6515483" cy="540386"/>
          </a:xfrm>
          <a:prstGeom prst="rect">
            <a:avLst/>
          </a:prstGeom>
        </p:spPr>
        <p:txBody>
          <a:bodyPr anchor="t" rtlCol="false" tIns="0" lIns="0" bIns="0" rIns="0">
            <a:spAutoFit/>
          </a:bodyPr>
          <a:lstStyle/>
          <a:p>
            <a:pPr algn="l">
              <a:lnSpc>
                <a:spcPts val="4339"/>
              </a:lnSpc>
              <a:spcBef>
                <a:spcPct val="0"/>
              </a:spcBef>
            </a:pPr>
            <a:r>
              <a:rPr lang="en-US" sz="3099" b="true">
                <a:solidFill>
                  <a:srgbClr val="000000"/>
                </a:solidFill>
                <a:latin typeface="Public Sans Bold"/>
                <a:ea typeface="Public Sans Bold"/>
                <a:cs typeface="Public Sans Bold"/>
                <a:sym typeface="Public Sans Bold"/>
              </a:rPr>
              <a:t>Inconsistent Content Moderation</a:t>
            </a:r>
          </a:p>
        </p:txBody>
      </p:sp>
      <p:sp>
        <p:nvSpPr>
          <p:cNvPr name="TextBox 11" id="11"/>
          <p:cNvSpPr txBox="true"/>
          <p:nvPr/>
        </p:nvSpPr>
        <p:spPr>
          <a:xfrm rot="0">
            <a:off x="6650773" y="6745288"/>
            <a:ext cx="5495615" cy="532330"/>
          </a:xfrm>
          <a:prstGeom prst="rect">
            <a:avLst/>
          </a:prstGeom>
        </p:spPr>
        <p:txBody>
          <a:bodyPr anchor="t" rtlCol="false" tIns="0" lIns="0" bIns="0" rIns="0">
            <a:spAutoFit/>
          </a:bodyPr>
          <a:lstStyle/>
          <a:p>
            <a:pPr algn="l">
              <a:lnSpc>
                <a:spcPts val="4258"/>
              </a:lnSpc>
              <a:spcBef>
                <a:spcPct val="0"/>
              </a:spcBef>
            </a:pPr>
            <a:r>
              <a:rPr lang="en-US" sz="3042" b="true">
                <a:solidFill>
                  <a:srgbClr val="000000"/>
                </a:solidFill>
                <a:latin typeface="Public Sans Bold"/>
                <a:ea typeface="Public Sans Bold"/>
                <a:cs typeface="Public Sans Bold"/>
                <a:sym typeface="Public Sans Bold"/>
              </a:rPr>
              <a:t>Notification Overload</a:t>
            </a:r>
          </a:p>
        </p:txBody>
      </p:sp>
      <p:sp>
        <p:nvSpPr>
          <p:cNvPr name="TextBox 12" id="12"/>
          <p:cNvSpPr txBox="true"/>
          <p:nvPr/>
        </p:nvSpPr>
        <p:spPr>
          <a:xfrm rot="0">
            <a:off x="6442881" y="3201274"/>
            <a:ext cx="5703507" cy="489293"/>
          </a:xfrm>
          <a:prstGeom prst="rect">
            <a:avLst/>
          </a:prstGeom>
        </p:spPr>
        <p:txBody>
          <a:bodyPr anchor="t" rtlCol="false" tIns="0" lIns="0" bIns="0" rIns="0">
            <a:spAutoFit/>
          </a:bodyPr>
          <a:lstStyle/>
          <a:p>
            <a:pPr algn="l">
              <a:lnSpc>
                <a:spcPts val="3905"/>
              </a:lnSpc>
              <a:spcBef>
                <a:spcPct val="0"/>
              </a:spcBef>
            </a:pPr>
            <a:r>
              <a:rPr lang="en-US" sz="2789" b="true">
                <a:solidFill>
                  <a:srgbClr val="000000"/>
                </a:solidFill>
                <a:latin typeface="Public Sans Bold"/>
                <a:ea typeface="Public Sans Bold"/>
                <a:cs typeface="Public Sans Bold"/>
                <a:sym typeface="Public Sans Bold"/>
              </a:rPr>
              <a:t>Limited Video Playback Controls</a:t>
            </a:r>
          </a:p>
        </p:txBody>
      </p:sp>
      <p:sp>
        <p:nvSpPr>
          <p:cNvPr name="TextBox 13" id="13"/>
          <p:cNvSpPr txBox="true"/>
          <p:nvPr/>
        </p:nvSpPr>
        <p:spPr>
          <a:xfrm rot="0">
            <a:off x="12236027" y="6320505"/>
            <a:ext cx="5023273" cy="2091690"/>
          </a:xfrm>
          <a:prstGeom prst="rect">
            <a:avLst/>
          </a:prstGeom>
        </p:spPr>
        <p:txBody>
          <a:bodyPr anchor="t" rtlCol="false" tIns="0" lIns="0" bIns="0" rIns="0">
            <a:spAutoFit/>
          </a:bodyPr>
          <a:lstStyle/>
          <a:p>
            <a:pPr algn="l">
              <a:lnSpc>
                <a:spcPts val="3359"/>
              </a:lnSpc>
              <a:spcBef>
                <a:spcPct val="0"/>
              </a:spcBef>
            </a:pPr>
            <a:r>
              <a:rPr lang="en-US" sz="2399">
                <a:solidFill>
                  <a:srgbClr val="000000"/>
                </a:solidFill>
                <a:latin typeface="Public Sans"/>
                <a:ea typeface="Public Sans"/>
                <a:cs typeface="Public Sans"/>
                <a:sym typeface="Public Sans"/>
              </a:rPr>
              <a:t>Users have reported issues with content moderation, where some videos are unfairly removed or flagged, leading to confusion and frustration.</a:t>
            </a:r>
          </a:p>
        </p:txBody>
      </p:sp>
      <p:sp>
        <p:nvSpPr>
          <p:cNvPr name="TextBox 14" id="14"/>
          <p:cNvSpPr txBox="true"/>
          <p:nvPr/>
        </p:nvSpPr>
        <p:spPr>
          <a:xfrm rot="0">
            <a:off x="6632364" y="7585710"/>
            <a:ext cx="5023273" cy="1672590"/>
          </a:xfrm>
          <a:prstGeom prst="rect">
            <a:avLst/>
          </a:prstGeom>
        </p:spPr>
        <p:txBody>
          <a:bodyPr anchor="t" rtlCol="false" tIns="0" lIns="0" bIns="0" rIns="0">
            <a:spAutoFit/>
          </a:bodyPr>
          <a:lstStyle/>
          <a:p>
            <a:pPr algn="l">
              <a:lnSpc>
                <a:spcPts val="3359"/>
              </a:lnSpc>
              <a:spcBef>
                <a:spcPct val="0"/>
              </a:spcBef>
            </a:pPr>
            <a:r>
              <a:rPr lang="en-US" sz="2399">
                <a:solidFill>
                  <a:srgbClr val="000000"/>
                </a:solidFill>
                <a:latin typeface="Public Sans"/>
                <a:ea typeface="Public Sans"/>
                <a:cs typeface="Public Sans"/>
                <a:sym typeface="Public Sans"/>
              </a:rPr>
              <a:t>The app sends frequent push notifications, which can lead to notification fatigue and distract users from their primary activities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149" r="0" b="-4961"/>
            </a:stretch>
          </a:blipFill>
        </p:spPr>
      </p:sp>
      <p:sp>
        <p:nvSpPr>
          <p:cNvPr name="Freeform 3" id="3"/>
          <p:cNvSpPr/>
          <p:nvPr/>
        </p:nvSpPr>
        <p:spPr>
          <a:xfrm flipH="false" flipV="false" rot="0">
            <a:off x="860034" y="1028700"/>
            <a:ext cx="3368396" cy="4390089"/>
          </a:xfrm>
          <a:custGeom>
            <a:avLst/>
            <a:gdLst/>
            <a:ahLst/>
            <a:cxnLst/>
            <a:rect r="r" b="b" t="t" l="l"/>
            <a:pathLst>
              <a:path h="4390089" w="3368396">
                <a:moveTo>
                  <a:pt x="0" y="0"/>
                </a:moveTo>
                <a:lnTo>
                  <a:pt x="3368396" y="0"/>
                </a:lnTo>
                <a:lnTo>
                  <a:pt x="3368396" y="4390089"/>
                </a:lnTo>
                <a:lnTo>
                  <a:pt x="0" y="439008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746702" y="1381954"/>
            <a:ext cx="3132342" cy="3761546"/>
          </a:xfrm>
          <a:custGeom>
            <a:avLst/>
            <a:gdLst/>
            <a:ahLst/>
            <a:cxnLst/>
            <a:rect r="r" b="b" t="t" l="l"/>
            <a:pathLst>
              <a:path h="3761546" w="3132342">
                <a:moveTo>
                  <a:pt x="0" y="0"/>
                </a:moveTo>
                <a:lnTo>
                  <a:pt x="3132343" y="0"/>
                </a:lnTo>
                <a:lnTo>
                  <a:pt x="3132343" y="3761546"/>
                </a:lnTo>
                <a:lnTo>
                  <a:pt x="0" y="37615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6879045" y="2102113"/>
            <a:ext cx="3279928" cy="3041387"/>
          </a:xfrm>
          <a:custGeom>
            <a:avLst/>
            <a:gdLst/>
            <a:ahLst/>
            <a:cxnLst/>
            <a:rect r="r" b="b" t="t" l="l"/>
            <a:pathLst>
              <a:path h="3041387" w="3279928">
                <a:moveTo>
                  <a:pt x="0" y="0"/>
                </a:moveTo>
                <a:lnTo>
                  <a:pt x="3279927" y="0"/>
                </a:lnTo>
                <a:lnTo>
                  <a:pt x="3279927" y="3041387"/>
                </a:lnTo>
                <a:lnTo>
                  <a:pt x="0" y="304138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9979006" y="2102113"/>
            <a:ext cx="4130279" cy="3041387"/>
          </a:xfrm>
          <a:custGeom>
            <a:avLst/>
            <a:gdLst/>
            <a:ahLst/>
            <a:cxnLst/>
            <a:rect r="r" b="b" t="t" l="l"/>
            <a:pathLst>
              <a:path h="3041387" w="4130279">
                <a:moveTo>
                  <a:pt x="0" y="0"/>
                </a:moveTo>
                <a:lnTo>
                  <a:pt x="4130279" y="0"/>
                </a:lnTo>
                <a:lnTo>
                  <a:pt x="4130279" y="3041387"/>
                </a:lnTo>
                <a:lnTo>
                  <a:pt x="0" y="304138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13770239" y="711667"/>
            <a:ext cx="3489061" cy="4431833"/>
          </a:xfrm>
          <a:custGeom>
            <a:avLst/>
            <a:gdLst/>
            <a:ahLst/>
            <a:cxnLst/>
            <a:rect r="r" b="b" t="t" l="l"/>
            <a:pathLst>
              <a:path h="4431833" w="3489061">
                <a:moveTo>
                  <a:pt x="0" y="0"/>
                </a:moveTo>
                <a:lnTo>
                  <a:pt x="3489061" y="0"/>
                </a:lnTo>
                <a:lnTo>
                  <a:pt x="3489061" y="4431833"/>
                </a:lnTo>
                <a:lnTo>
                  <a:pt x="0" y="443183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0">
            <a:off x="3746702" y="5087578"/>
            <a:ext cx="4152550" cy="4114800"/>
          </a:xfrm>
          <a:custGeom>
            <a:avLst/>
            <a:gdLst/>
            <a:ahLst/>
            <a:cxnLst/>
            <a:rect r="r" b="b" t="t" l="l"/>
            <a:pathLst>
              <a:path h="4114800" w="4152550">
                <a:moveTo>
                  <a:pt x="0" y="0"/>
                </a:moveTo>
                <a:lnTo>
                  <a:pt x="4152551" y="0"/>
                </a:lnTo>
                <a:lnTo>
                  <a:pt x="4152551" y="4114800"/>
                </a:lnTo>
                <a:lnTo>
                  <a:pt x="0" y="411480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9" id="9"/>
          <p:cNvSpPr/>
          <p:nvPr/>
        </p:nvSpPr>
        <p:spPr>
          <a:xfrm flipH="false" flipV="false" rot="0">
            <a:off x="6897985" y="6434772"/>
            <a:ext cx="3242047" cy="2823528"/>
          </a:xfrm>
          <a:custGeom>
            <a:avLst/>
            <a:gdLst/>
            <a:ahLst/>
            <a:cxnLst/>
            <a:rect r="r" b="b" t="t" l="l"/>
            <a:pathLst>
              <a:path h="2823528" w="3242047">
                <a:moveTo>
                  <a:pt x="0" y="0"/>
                </a:moveTo>
                <a:lnTo>
                  <a:pt x="3242047" y="0"/>
                </a:lnTo>
                <a:lnTo>
                  <a:pt x="3242047" y="2823528"/>
                </a:lnTo>
                <a:lnTo>
                  <a:pt x="0" y="2823528"/>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0" id="10"/>
          <p:cNvSpPr/>
          <p:nvPr/>
        </p:nvSpPr>
        <p:spPr>
          <a:xfrm flipH="false" flipV="false" rot="0">
            <a:off x="10077536" y="5827648"/>
            <a:ext cx="4031750" cy="3430652"/>
          </a:xfrm>
          <a:custGeom>
            <a:avLst/>
            <a:gdLst/>
            <a:ahLst/>
            <a:cxnLst/>
            <a:rect r="r" b="b" t="t" l="l"/>
            <a:pathLst>
              <a:path h="3430652" w="4031750">
                <a:moveTo>
                  <a:pt x="0" y="0"/>
                </a:moveTo>
                <a:lnTo>
                  <a:pt x="4031749" y="0"/>
                </a:lnTo>
                <a:lnTo>
                  <a:pt x="4031749" y="3430652"/>
                </a:lnTo>
                <a:lnTo>
                  <a:pt x="0" y="343065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DAGgGLHdZlI</dc:identifier>
  <dcterms:modified xsi:type="dcterms:W3CDTF">2011-08-01T06:04:30Z</dcterms:modified>
  <cp:revision>1</cp:revision>
  <dc:title>Tiktok analysis</dc:title>
</cp:coreProperties>
</file>